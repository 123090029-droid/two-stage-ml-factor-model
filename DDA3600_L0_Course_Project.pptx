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19" r:id="rId5"/>
    <p:sldId id="288" r:id="rId6"/>
    <p:sldId id="291" r:id="rId7"/>
    <p:sldId id="290" r:id="rId8"/>
    <p:sldId id="292" r:id="rId9"/>
    <p:sldId id="293" r:id="rId10"/>
    <p:sldId id="320" r:id="rId11"/>
    <p:sldId id="294" r:id="rId12"/>
    <p:sldId id="295" r:id="rId13"/>
    <p:sldId id="296" r:id="rId14"/>
    <p:sldId id="306" r:id="rId15"/>
    <p:sldId id="321" r:id="rId16"/>
    <p:sldId id="287" r:id="rId17"/>
    <p:sldId id="307" r:id="rId18"/>
    <p:sldId id="308" r:id="rId19"/>
    <p:sldId id="322" r:id="rId20"/>
    <p:sldId id="303" r:id="rId21"/>
    <p:sldId id="309" r:id="rId22"/>
    <p:sldId id="310" r:id="rId23"/>
    <p:sldId id="311" r:id="rId24"/>
    <p:sldId id="313" r:id="rId25"/>
    <p:sldId id="312" r:id="rId26"/>
    <p:sldId id="328" r:id="rId27"/>
    <p:sldId id="323" r:id="rId28"/>
    <p:sldId id="314" r:id="rId29"/>
    <p:sldId id="329" r:id="rId30"/>
    <p:sldId id="316" r:id="rId31"/>
    <p:sldId id="325" r:id="rId32"/>
    <p:sldId id="326" r:id="rId33"/>
    <p:sldId id="327" r:id="rId34"/>
    <p:sldId id="279" r:id="rId35"/>
  </p:sldIdLst>
  <p:sldSz cx="7199630" cy="395986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E5182"/>
    <a:srgbClr val="8F2F89"/>
    <a:srgbClr val="7125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23500" y="1143000"/>
            <a:ext cx="5611001"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relationship between firm fundamentals and cross-sectional stock returns has been a central focus of empirical asset pricing for decades. Multi-factor models such as the Fama–French three- and five-factor frameworks highlight that fundamental characteristics—such as size, book-to-market, profitability, and investment—systematically explain expected returns. These models establish a link between accounting information and risk premia, suggesting that firm fundamentals contain important insights into the drivers of cross-sectional variation in returns.</a:t>
            </a:r>
            <a:endParaRPr lang="en-US" altLang="zh-CN"/>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Despite these advances, traditional linear factor models rely heavily on lagged accounting information, which may not reflect a firm’s current financial condition due to reporting delays and the gradual diffusion of information into prices. This limitation becomes particularly salient in high-frequency or rapidly changing environments, where stale fundamentals may distort factor exposures or weaken predictive performance. </a:t>
            </a:r>
            <a:endParaRPr lang="en-US" altLang="zh-CN">
              <a:sym typeface="+mn-ea"/>
            </a:endParaRPr>
          </a:p>
          <a:p>
            <a:r>
              <a:rPr lang="en-US" altLang="zh-CN">
                <a:sym typeface="+mn-ea"/>
              </a:rPr>
              <a:t>This limitation motivates our primary research question:</a:t>
            </a:r>
            <a:endParaRPr lang="en-US" altLang="zh-CN"/>
          </a:p>
          <a:p>
            <a:r>
              <a:rPr lang="en-US" altLang="zh-CN">
                <a:sym typeface="+mn-ea"/>
              </a:rPr>
              <a:t>Do contemporaneous fundamentals provide stronger explanatory power for next-period returns than lagged fundamentals?</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To address this core research question, this study is structured around two sequential primary objectives. </a:t>
            </a:r>
            <a:endParaRPr lang="en-US" altLang="zh-CN"/>
          </a:p>
          <a:p>
            <a:r>
              <a:rPr lang="en-US" altLang="zh-CN"/>
              <a:t>Our first objective is empirical validation using linear regression. We hypothese H1... ... All subsequent research is based on the premise that H1 is correct.</a:t>
            </a:r>
            <a:endParaRPr lang="en-US" altLang="zh-CN"/>
          </a:p>
          <a:p>
            <a:r>
              <a:rPr lang="en-US" altLang="zh-CN"/>
              <a:t>Hence, we expect contemporaneous fundamentals to deliver higher R</a:t>
            </a:r>
            <a:r>
              <a:rPr lang="en-US" altLang="en-US"/>
              <a:t>²</a:t>
            </a:r>
            <a:r>
              <a:rPr lang="en-US" altLang="zh-CN"/>
              <a:t> and more significant coefficients.</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second part of our study introduces a two-stage machine learning model. </a:t>
            </a:r>
            <a:endParaRPr lang="en-US" altLang="zh-CN"/>
          </a:p>
          <a:p>
            <a:r>
              <a:rPr lang="en-US" altLang="zh-CN"/>
              <a:t>First we forecast the next-period fundamentals, then we use these forecasts to predict returns.</a:t>
            </a:r>
            <a:endParaRPr lang="en-US" altLang="zh-CN"/>
          </a:p>
          <a:p>
            <a:r>
              <a:rPr lang="en-US" altLang="zh-CN"/>
              <a:t>This design allows us to generate more timely and informative signals. For the benchmark of comparison, we also need to use MLP to predict the next-period returns by only using current fundamentals.”</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“We adopt MLP as the core architecture because it effectively captures the nonlinear interactions among firm fundamentals that linear models cannot handle.</a:t>
            </a:r>
            <a:endParaRPr lang="en-US" altLang="zh-CN"/>
          </a:p>
          <a:p>
            <a:r>
              <a:rPr lang="en-US" altLang="zh-CN"/>
              <a:t>The two-stage framework also fits naturally with MLP: predicting fundamentals is a structured regression task, while predicting returns requires flexible nonlinear combination of signals.</a:t>
            </a:r>
            <a:endParaRPr lang="en-US" altLang="zh-CN"/>
          </a:p>
          <a:p>
            <a:r>
              <a:rPr lang="en-US" altLang="zh-CN"/>
              <a:t>Moreover, Stage II uses the exact same architecture as the baseline, ensuring that any improvement comes purely from the higher-quality inputs produced by Stage I.</a:t>
            </a:r>
            <a:endParaRPr lang="en-US" altLang="zh-CN"/>
          </a:p>
          <a:p>
            <a:r>
              <a:rPr lang="en-US" altLang="zh-CN"/>
              <a:t>Given our dataset size and monthly frequency, MLP provides the optimal balance between expressiveness and out-of-sample stability.”</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dirty="0">
                <a:latin typeface="Times New Roman" panose="02020603050405020304" charset="0"/>
                <a:ea typeface="Arial" panose="020B0604020202020204"/>
                <a:cs typeface="Times New Roman" panose="02020603050405020304" charset="0"/>
                <a:sym typeface="+mn-ea"/>
              </a:rPr>
              <a:t>The research utilizes a comprehensive dataset spanning from January 2014 to December 2023. </a:t>
            </a:r>
            <a:endParaRPr lang="en-US" altLang="zh-CN" dirty="0">
              <a:latin typeface="Times New Roman" panose="02020603050405020304" charset="0"/>
              <a:ea typeface="Arial" panose="020B0604020202020204"/>
              <a:cs typeface="Times New Roman" panose="02020603050405020304" charset="0"/>
            </a:endParaRPr>
          </a:p>
          <a:p>
            <a:pPr marL="12700" indent="0" algn="l" rtl="0" eaLnBrk="0">
              <a:lnSpc>
                <a:spcPct val="103000"/>
              </a:lnSpc>
              <a:spcBef>
                <a:spcPts val="5"/>
              </a:spcBef>
              <a:buFont typeface="Arial" panose="020B0604020202020204" pitchFamily="34" charset="0"/>
              <a:buNone/>
            </a:pPr>
            <a:r>
              <a:rPr lang="en-US" altLang="zh-CN"/>
              <a:t>All variables used in the analysis are listed in the table on the left. These selected factors are widely validated in empirical asset pricing research and span key economic dimensions such as value, profitability, investment, and accruals. By relying on characteristics with well-established explanatory power, the dataset ensures that all model inputs are economically meaningful, empirically robust, and suitable for both linear and nonlinear prediction frameworks.</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To ensure our models are trained on clean and reliable data, we apply three key preprocessing steps.</a:t>
            </a:r>
            <a:endParaRPr lang="en-US" altLang="zh-CN"/>
          </a:p>
          <a:p>
            <a:r>
              <a:rPr lang="en-US" altLang="zh-CN"/>
              <a:t>First, we handle missing values by replacing them with the cross-sectional median at each time period. This prevents gaps in the data from biasing the analysis.</a:t>
            </a:r>
            <a:endParaRPr lang="en-US" altLang="zh-CN"/>
          </a:p>
          <a:p>
            <a:r>
              <a:rPr lang="en-US" altLang="zh-CN"/>
              <a:t>Second, all factors are cross-sectionally standardized each month. This puts every variable on a comparable scale and avoids situations where large-scale factors dominate model learning.</a:t>
            </a:r>
            <a:endParaRPr lang="en-US" altLang="zh-CN"/>
          </a:p>
          <a:p>
            <a:r>
              <a:rPr lang="en-US" altLang="zh-CN"/>
              <a:t>Finally, we remove any invalid or infinite values that may arise from calculations—for example, division-by-zero in Book-to-Market ratios.</a:t>
            </a:r>
            <a:endParaRPr lang="en-US" altLang="zh-CN"/>
          </a:p>
          <a:p>
            <a:r>
              <a:rPr lang="en-US" altLang="zh-CN"/>
              <a:t>Together, these steps produce a stable and consistent factor dataset that is suitable for both the linear regression tests and the neural-network-based prediction models.</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In this slide, I summarize the training setup used for all models in the study.</a:t>
            </a:r>
            <a:endParaRPr lang="en-US" altLang="zh-CN"/>
          </a:p>
          <a:p>
            <a:r>
              <a:rPr lang="en-US" altLang="zh-CN"/>
              <a:t>To ensure a fair and robust evaluation, the dataset is divided using a 2:6:2 time split.</a:t>
            </a:r>
            <a:endParaRPr lang="en-US" altLang="zh-CN"/>
          </a:p>
          <a:p>
            <a:r>
              <a:rPr lang="en-US" altLang="zh-CN"/>
              <a:t>The pre-sample period, from 2014 to 2015, is used only for model tuning and initial validation.</a:t>
            </a:r>
            <a:endParaRPr lang="en-US" altLang="zh-CN"/>
          </a:p>
          <a:p>
            <a:r>
              <a:rPr lang="en-US" altLang="zh-CN"/>
              <a:t>The in-sample period, from 2016 to 2021, is the main training window for both the baseline model and the two-stage model.</a:t>
            </a:r>
            <a:endParaRPr lang="en-US" altLang="zh-CN"/>
          </a:p>
          <a:p>
            <a:r>
              <a:rPr lang="en-US" altLang="zh-CN"/>
              <a:t>Finally, the post-sample period, from 2022 to 2023, is reserved strictly for out-of-sample evaluation, ensuring that the testing results reflect true predictive performance rather than overfitting.</a:t>
            </a:r>
            <a:endParaRPr lang="en-US" altLang="zh-CN"/>
          </a:p>
          <a:p>
            <a:endParaRPr lang="en-US" altLang="zh-CN"/>
          </a:p>
          <a:p>
            <a:r>
              <a:rPr lang="en-US" altLang="zh-CN"/>
              <a:t>All MLP models in the study share a consistent set of key hyperparameters.</a:t>
            </a:r>
            <a:endParaRPr lang="en-US" altLang="zh-CN"/>
          </a:p>
          <a:p>
            <a:r>
              <a:rPr lang="en-US" altLang="zh-CN"/>
              <a:t>We train them using the Adam optimizer with a fixed learning rate of 0.001, and a batch size of 32.</a:t>
            </a:r>
            <a:endParaRPr lang="en-US" altLang="zh-CN"/>
          </a:p>
          <a:p>
            <a:r>
              <a:rPr lang="en-US" altLang="zh-CN"/>
              <a:t>All hidden layers use ReLU activation, and we apply L2 regularization to reduce overfitting.</a:t>
            </a:r>
            <a:endParaRPr lang="en-US" altLang="zh-CN"/>
          </a:p>
          <a:p>
            <a:r>
              <a:rPr lang="en-US" altLang="zh-CN"/>
              <a:t>In addition, we incorporate early stopping, where training halts if the validation loss does not improve for 10 epochs.</a:t>
            </a:r>
            <a:endParaRPr lang="en-US" altLang="zh-CN"/>
          </a:p>
          <a:p>
            <a:endParaRPr lang="en-US" altLang="zh-CN"/>
          </a:p>
          <a:p>
            <a:r>
              <a:rPr lang="en-US" altLang="zh-CN"/>
              <a:t>This standardized setup ensures that any performance differences between the baseline model and the two-stage model come from the model structure itself—rather than differences in training configuration.</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“We evaluate model performance using cross-sectional ICs, which measure whether the model correctly ranks stocks each month.</a:t>
            </a:r>
            <a:endParaRPr lang="en-US" altLang="zh-CN"/>
          </a:p>
          <a:p>
            <a:r>
              <a:rPr lang="en-US" altLang="zh-CN"/>
              <a:t>IC mean tells us directional accuracy, while IC standard deviation measures consistency.</a:t>
            </a:r>
            <a:endParaRPr lang="en-US" altLang="zh-CN"/>
          </a:p>
          <a:p>
            <a:r>
              <a:rPr lang="en-US" altLang="zh-CN"/>
              <a:t>Their ratio, ICIR, is the main performance indicator in quant research.”</a:t>
            </a:r>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After completing the data preprocessing, we first verify Objective 1.</a:t>
            </a:r>
            <a:endParaRPr lang="en-US" altLang="zh-CN"/>
          </a:p>
          <a:p>
            <a:r>
              <a:rPr lang="en-US" altLang="zh-CN"/>
              <a:t>Recall H1.</a:t>
            </a:r>
            <a:endParaRPr lang="en-US" altLang="zh-CN"/>
          </a:p>
          <a:p>
            <a:r>
              <a:rPr lang="en-US" altLang="zh-CN"/>
              <a:t>To test this hypothesis, we design two linear regression models that are identical in structure and differ only in the timing of the fundamental inputs. Although the model resembles a multi-factor specification, the fundamental variables used here are custom proxies rather than the exact Fama–French definitions. Specifically, ROE serves as the proxy for the profitability factor, and AST_GRTH serves as the proxy for the investment factor.</a:t>
            </a:r>
            <a:endParaRPr lang="en-US" altLang="zh-CN"/>
          </a:p>
          <a:p>
            <a:r>
              <a:rPr lang="en-US" altLang="zh-CN"/>
              <a:t>Model A uses lagged fundamentals, such as ROE_t and AST_GRTH_t, while Model B uses contemporaneous fundamentals, such as ROE_{t+1} and AST_GRTH_{t+1}.</a:t>
            </a:r>
            <a:endParaRPr lang="en-US" altLang="zh-CN"/>
          </a:p>
          <a:p>
            <a:r>
              <a:rPr lang="en-US" altLang="zh-CN"/>
              <a:t>We evaluate H1 by comparing four metrics across the two models:</a:t>
            </a:r>
            <a:endParaRPr lang="en-US" altLang="zh-CN"/>
          </a:p>
          <a:p>
            <a:r>
              <a:rPr lang="en-US" altLang="zh-CN"/>
              <a:t>In-sample R-squared,</a:t>
            </a:r>
            <a:endParaRPr lang="en-US" altLang="zh-CN"/>
          </a:p>
          <a:p>
            <a:r>
              <a:rPr lang="en-US" altLang="zh-CN"/>
              <a:t>Post-sample IC mean,</a:t>
            </a:r>
            <a:endParaRPr lang="en-US" altLang="zh-CN"/>
          </a:p>
          <a:p>
            <a:r>
              <a:rPr lang="en-US" altLang="zh-CN"/>
              <a:t>Post-sample ICIR,</a:t>
            </a:r>
            <a:endParaRPr lang="en-US" altLang="zh-CN"/>
          </a:p>
          <a:p>
            <a:r>
              <a:rPr lang="en-US" altLang="zh-CN"/>
              <a:t>And the statistical significance of the value, profitability, and investment factors.</a:t>
            </a:r>
            <a:endParaRPr lang="en-US" altLang="zh-CN"/>
          </a:p>
          <a:p>
            <a:r>
              <a:rPr lang="en-US" altLang="zh-CN"/>
              <a:t>If the contemporaneous model consistently outperforms, this provides evidence that more timely fundamental information offers stronger explanatory power for cross-sectional returns, thereby supporting our hypothesis.”</a:t>
            </a:r>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table shows that Model B consistently outperforms Model A, providing strong evidence in support of the hypothesis that contemporaneous fundamentals carry more timely and informative content about next-period stock returns.</a:t>
            </a:r>
            <a:endParaRPr lang="en-US" altLang="zh-CN"/>
          </a:p>
          <a:p>
            <a:r>
              <a:rPr lang="en-US" altLang="zh-CN"/>
              <a:t>From this table, we first find that Model B has a higher R-squared than model A, indicating that contemporaneous fundamentals explain a larger proportion of the variance in excess returns. </a:t>
            </a:r>
            <a:endParaRPr lang="en-US" altLang="zh-CN"/>
          </a:p>
          <a:p>
            <a:r>
              <a:rPr lang="en-US" altLang="zh-CN"/>
              <a:t>Second, the absolute values of the t-statistic for almost all factors have increased, indicating that fundamental factors become more statistically meaningful and informative once their timing is aligned with the returns they aim to explain. Particularly, the value factor switches from significantly positive to significantly negative, revealing that stale book-to-market information can distort factor interpretations, whereas updated fundamentals produce more economically consistent signals. Size becomes significant only in the contemporaneous model, and the investment factor shows stronger significance when measured contemporaneously.</a:t>
            </a:r>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in-sample Information Coefficient IR (ICIR) provides further evidence of Model B’s superiority. </a:t>
            </a:r>
            <a:endParaRPr lang="en-US" altLang="zh-CN"/>
          </a:p>
          <a:p>
            <a:r>
              <a:rPr lang="en-US" altLang="zh-CN"/>
              <a:t>the left figure is for model A, while the right one is for model B</a:t>
            </a:r>
            <a:endParaRPr lang="en-US" altLang="zh-CN"/>
          </a:p>
          <a:p>
            <a:r>
              <a:rPr lang="en-US" altLang="zh-CN"/>
              <a:t>The right model significantly outperforms the left, delivering higher, smoother, and more stable IC over time, with stronger predictive power both in- and out-of-sample.</a:t>
            </a:r>
            <a:endParaRPr lang="en-US" altLang="zh-CN"/>
          </a:p>
          <a:p>
            <a:r>
              <a:rPr lang="en-US" altLang="zh-CN"/>
              <a:t>All of the above prove the correctness of H1.</a:t>
            </a:r>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baseline model serves as a simple benchmark.</a:t>
            </a:r>
            <a:endParaRPr lang="en-US" altLang="zh-CN"/>
          </a:p>
          <a:p>
            <a:r>
              <a:rPr lang="en-US" altLang="zh-CN"/>
              <a:t>It directly maps all observable factors at time t to the cross-section of excess returns at time t+1.</a:t>
            </a:r>
            <a:endParaRPr lang="en-US" altLang="zh-CN"/>
          </a:p>
          <a:p>
            <a:r>
              <a:rPr lang="en-US" altLang="zh-CN"/>
              <a:t>The idea is to create a lower-bound reference point for comparison with more advanced models.</a:t>
            </a:r>
            <a:endParaRPr lang="en-US" altLang="zh-CN"/>
          </a:p>
          <a:p>
            <a:r>
              <a:rPr lang="en-US" altLang="zh-CN"/>
              <a:t>We implement this baseline using a Multilayer Perceptron.</a:t>
            </a:r>
            <a:endParaRPr lang="en-US" altLang="zh-CN"/>
          </a:p>
          <a:p>
            <a:r>
              <a:rPr lang="en-US" altLang="zh-CN"/>
              <a:t>The model takes in two types of inputs:</a:t>
            </a:r>
            <a:endParaRPr lang="en-US" altLang="zh-CN"/>
          </a:p>
          <a:p>
            <a:r>
              <a:rPr lang="en-US" altLang="zh-CN"/>
              <a:t>seven fundamental factors—such as ROE, accruals, book value, earnings, asset growth, capital gains, and operating asset changes—</a:t>
            </a:r>
            <a:endParaRPr lang="en-US" altLang="zh-CN"/>
          </a:p>
          <a:p>
            <a:r>
              <a:rPr lang="en-US" altLang="zh-CN"/>
              <a:t>and five non-fundamental control factors, including market return, size, momentum, turnover, and trading activity.</a:t>
            </a:r>
            <a:endParaRPr lang="en-US" altLang="zh-CN"/>
          </a:p>
          <a:p>
            <a:r>
              <a:rPr lang="en-US" altLang="zh-CN"/>
              <a:t>In terms of concrete architectures:</a:t>
            </a:r>
            <a:endParaRPr lang="en-US" altLang="zh-CN"/>
          </a:p>
          <a:p>
            <a:r>
              <a:rPr lang="en-US" altLang="zh-CN"/>
              <a:t>the baseline model uses a three-layer MLP with hidden units of (20, 25, 20) and is trained for 5 epochs.</a:t>
            </a:r>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“In Stage I, we train a separate MLP to forecast all seven fundamental factors one month ahead.</a:t>
            </a:r>
            <a:endParaRPr lang="en-US" altLang="zh-CN"/>
          </a:p>
          <a:p>
            <a:r>
              <a:rPr lang="en-US" altLang="zh-CN"/>
              <a:t>This is a regression problem using MSE loss.</a:t>
            </a:r>
            <a:endParaRPr lang="en-US" altLang="zh-CN"/>
          </a:p>
          <a:p>
            <a:r>
              <a:rPr lang="en-US" altLang="zh-CN"/>
              <a:t>The idea is that if we can obtain a cleaner approximation of next-period fundamentals, these better inputs should improve return prediction.”</a:t>
            </a:r>
            <a:endParaRPr lang="en-US" altLang="zh-CN"/>
          </a:p>
          <a:p>
            <a:r>
              <a:rPr lang="en-US" altLang="zh-CN"/>
              <a:t>Stage I uses a smaller network with layers (10, 20, 10) to forecast fundamentals, trained with Mean Squared Error for 4 epochs.</a:t>
            </a:r>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“Stage II mirrors the baseline architecture exactly.</a:t>
            </a:r>
            <a:endParaRPr lang="en-US" altLang="zh-CN"/>
          </a:p>
          <a:p>
            <a:r>
              <a:rPr lang="en-US" altLang="zh-CN"/>
              <a:t>The only change is that we feed the predicted fundamentals rather than the original lagged ones.</a:t>
            </a:r>
            <a:endParaRPr lang="en-US" altLang="zh-CN"/>
          </a:p>
          <a:p>
            <a:r>
              <a:rPr lang="en-US" altLang="zh-CN"/>
              <a:t>Because the architecture is identical, any performance improvement can be attributed to the improved input signals.”</a:t>
            </a:r>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Comparing the two cumulative IC curves, we observe that the two-stage model consistently outperforms the baseline model across all sample periods.</a:t>
            </a:r>
            <a:endParaRPr lang="en-US" altLang="zh-CN"/>
          </a:p>
          <a:p>
            <a:r>
              <a:rPr lang="en-US" altLang="zh-CN"/>
              <a:t>The two-stage framework achieves:</a:t>
            </a:r>
            <a:endParaRPr lang="en-US" altLang="zh-CN"/>
          </a:p>
          <a:p>
            <a:r>
              <a:rPr lang="en-US" altLang="zh-CN"/>
              <a:t>Higher cumulative IC levels, especially during the in-sample period where the gap becomes most pronounced.</a:t>
            </a:r>
            <a:endParaRPr lang="en-US" altLang="zh-CN"/>
          </a:p>
          <a:p>
            <a:r>
              <a:rPr lang="en-US" altLang="zh-CN"/>
              <a:t>Higher IC means and ICIRs in the pre-sample, in-sample, and post-sample windows, indicating both stronger predictive accuracy and greater stability.</a:t>
            </a:r>
            <a:endParaRPr lang="en-US" altLang="zh-CN"/>
          </a:p>
          <a:p>
            <a:r>
              <a:rPr lang="en-US" altLang="zh-CN"/>
              <a:t>Smoother and more persistent signal accumulation, demonstrating that forecasting fundamentals provides a more reliable and information-rich input for return prediction</a:t>
            </a:r>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Next, I evaluate the economic performance of the two models through grouped backtesting.</a:t>
            </a:r>
            <a:endParaRPr lang="en-US" altLang="zh-CN"/>
          </a:p>
          <a:p>
            <a:r>
              <a:rPr lang="en-US" altLang="zh-CN"/>
              <a:t>For both models, stocks are sorted into five portfolios from G1 to G5 based on predicted returns, where G1 contains the lowest signals and G5 the highest.</a:t>
            </a:r>
            <a:endParaRPr lang="en-US" altLang="zh-CN"/>
          </a:p>
          <a:p>
            <a:r>
              <a:rPr lang="en-US" altLang="zh-CN"/>
              <a:t>As shown in the figures, both models produce a clean monotonic ordering—G1 through G5 separate nicely.</a:t>
            </a:r>
            <a:endParaRPr lang="en-US" altLang="zh-CN"/>
          </a:p>
          <a:p>
            <a:r>
              <a:rPr lang="en-US" altLang="zh-CN"/>
              <a:t>However, the Two-Stage model shows a much wider and more stable spread between adjacent groups, especially in the post-sample period.</a:t>
            </a:r>
            <a:endParaRPr lang="en-US" altLang="zh-CN"/>
          </a:p>
          <a:p>
            <a:r>
              <a:rPr lang="en-US" altLang="zh-CN"/>
              <a:t>This means that its predicted rankings have stronger discriminative power, capturing cross-sectional return differences more effectively.</a:t>
            </a:r>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hedge portfolio, constructed as G5 minus G1, also achieves a higher terminal cumulative return under the Two-Stage model, demonstrating stronger long-only plus short performance.</a:t>
            </a:r>
            <a:endParaRPr lang="en-US" altLang="zh-CN"/>
          </a:p>
          <a:p>
            <a:endParaRPr lang="en-US" altLang="zh-CN"/>
          </a:p>
          <a:p>
            <a:r>
              <a:rPr lang="en-US" altLang="zh-CN"/>
              <a:t>To further quantify this, the Sharpe ratio comparison in the table shows that the Two-Stage model delivers a higher post-sample Sharpe ratio than the baseline model.</a:t>
            </a:r>
            <a:endParaRPr lang="en-US" altLang="zh-CN"/>
          </a:p>
          <a:p>
            <a:r>
              <a:rPr lang="en-US" altLang="zh-CN"/>
              <a:t>This indicates better realized, risk-adjusted returns in a simulated live trading setting.</a:t>
            </a:r>
            <a:endParaRPr lang="en-US" altLang="zh-CN"/>
          </a:p>
          <a:p>
            <a:r>
              <a:rPr lang="en-US" altLang="zh-CN"/>
              <a:t>Overall, these results confirm the main takeaway:</a:t>
            </a:r>
            <a:endParaRPr lang="en-US" altLang="zh-CN"/>
          </a:p>
          <a:p>
            <a:r>
              <a:rPr lang="en-US" altLang="zh-CN"/>
              <a:t>predicting fundamentals with an MLP provides meaningful information gain, leading to better stock ranking, stronger hedge performance, and higher risk-adjusted returns compared to directly predicting return.</a:t>
            </a:r>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Building on the empirical results I just presented—where the Two-Stage model shows stronger IC performance, wider return spreads, and higher post-sample Sharpe ratio—the next question is: Where does this incremental performance actually come from?</a:t>
            </a:r>
            <a:endParaRPr lang="en-US" altLang="zh-CN"/>
          </a:p>
          <a:p>
            <a:r>
              <a:rPr lang="en-US" altLang="zh-CN"/>
              <a:t>To answer this, we conduct a mechanism test to interpret the model’s alpha.</a:t>
            </a:r>
            <a:endParaRPr lang="en-US" altLang="zh-CN"/>
          </a:p>
          <a:p>
            <a:r>
              <a:rPr lang="en-US" altLang="zh-CN"/>
              <a:t>The key concern is that the Two-Stage model might simply process lagged data more efficiently, rather than truly capturing future fundamentals.</a:t>
            </a:r>
            <a:endParaRPr lang="en-US" altLang="zh-CN"/>
          </a:p>
          <a:p>
            <a:r>
              <a:rPr lang="en-US" altLang="zh-CN"/>
              <a:t>So we decompose the incremental returns by regressing them on adjusted Fama–French style factors.</a:t>
            </a:r>
            <a:endParaRPr lang="en-US" altLang="zh-CN"/>
          </a:p>
          <a:p>
            <a:r>
              <a:rPr lang="en-US" altLang="zh-CN"/>
              <a:t>Because our model uses ROE, accruals, asset growth, and capital gain, we reconstruct Value, Earning, and Growth factors using the same underlying data—both in lagged and non-lagged versions.</a:t>
            </a:r>
            <a:endParaRPr lang="en-US" altLang="zh-CN"/>
          </a:p>
          <a:p>
            <a:r>
              <a:rPr lang="en-US" altLang="zh-CN"/>
              <a:t>The regression results in Table 3 show two important findings:</a:t>
            </a:r>
            <a:endParaRPr lang="en-US" altLang="zh-CN"/>
          </a:p>
          <a:p>
            <a:r>
              <a:rPr lang="en-US" altLang="zh-CN"/>
              <a:t>Non-lagged factors explain the model’s incremental returns better, with a higher R</a:t>
            </a:r>
            <a:r>
              <a:rPr lang="en-US" altLang="en-US"/>
              <a:t>²</a:t>
            </a:r>
            <a:r>
              <a:rPr lang="en-US" altLang="zh-CN"/>
              <a:t>.</a:t>
            </a:r>
            <a:endParaRPr lang="en-US" altLang="zh-CN"/>
          </a:p>
          <a:p>
            <a:r>
              <a:rPr lang="en-US" altLang="zh-CN"/>
              <a:t>Non-lagged Earning and Growth factors become statistically significant, while the lagged versions are not.</a:t>
            </a:r>
            <a:endParaRPr lang="en-US" altLang="zh-CN"/>
          </a:p>
          <a:p>
            <a:r>
              <a:rPr lang="en-US" altLang="zh-CN"/>
              <a:t>This pattern tells us that the Two-Stage model is not just reprocessing stale accounting data—it is actually learning to anticipate firms’ future profitability and growth.</a:t>
            </a:r>
            <a:endParaRPr lang="en-US" altLang="zh-CN"/>
          </a:p>
          <a:p>
            <a:r>
              <a:rPr lang="en-US" altLang="zh-CN"/>
              <a:t>In other words, the model’s improved performance is economically meaningful and interpretable: its alpha comes from predicting future fundamentals, not from overfitting lagged variables</a:t>
            </a:r>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Building on the empirical results I just presented—where the Two-Stage model shows stronger IC performance, wider return spreads, and higher post-sample Sharpe ratio—the next question is: Where does this incremental performance actually come from?</a:t>
            </a:r>
            <a:endParaRPr lang="en-US" altLang="zh-CN"/>
          </a:p>
          <a:p>
            <a:r>
              <a:rPr lang="en-US" altLang="zh-CN"/>
              <a:t>To answer this, we conduct a mechanism test to interpret the model’s alpha.</a:t>
            </a:r>
            <a:endParaRPr lang="en-US" altLang="zh-CN"/>
          </a:p>
          <a:p>
            <a:r>
              <a:rPr lang="en-US" altLang="zh-CN"/>
              <a:t>The key concern is that the Two-Stage model might simply process lagged data more efficiently, rather than truly capturing future fundamentals.</a:t>
            </a:r>
            <a:endParaRPr lang="en-US" altLang="zh-CN"/>
          </a:p>
          <a:p>
            <a:r>
              <a:rPr lang="en-US" altLang="zh-CN"/>
              <a:t>So we decompose the incremental returns by regressing them on adjusted Fama–French style factors.</a:t>
            </a:r>
            <a:endParaRPr lang="en-US" altLang="zh-CN"/>
          </a:p>
          <a:p>
            <a:r>
              <a:rPr lang="en-US" altLang="zh-CN"/>
              <a:t>Because our model uses ROE, accruals, asset growth, and capital gain, we reconstruct Value, Earning, and Growth factors using the same underlying data—both in lagged and non-lagged versions.</a:t>
            </a:r>
            <a:endParaRPr lang="en-US" altLang="zh-CN"/>
          </a:p>
          <a:p>
            <a:r>
              <a:rPr lang="en-US" altLang="zh-CN"/>
              <a:t>The regression results in Table 3 show two important findings:</a:t>
            </a:r>
            <a:endParaRPr lang="en-US" altLang="zh-CN"/>
          </a:p>
          <a:p>
            <a:r>
              <a:rPr lang="en-US" altLang="zh-CN"/>
              <a:t>Non-lagged factors explain the model’s incremental returns better, with a higher R</a:t>
            </a:r>
            <a:r>
              <a:rPr lang="en-US" altLang="en-US"/>
              <a:t>²</a:t>
            </a:r>
            <a:r>
              <a:rPr lang="en-US" altLang="zh-CN"/>
              <a:t>.</a:t>
            </a:r>
            <a:endParaRPr lang="en-US" altLang="zh-CN"/>
          </a:p>
          <a:p>
            <a:r>
              <a:rPr lang="en-US" altLang="zh-CN"/>
              <a:t>Non-lagged Earning and Growth factors become statistically significant, while the lagged versions are not.</a:t>
            </a:r>
            <a:endParaRPr lang="en-US" altLang="zh-CN"/>
          </a:p>
          <a:p>
            <a:r>
              <a:rPr lang="en-US" altLang="zh-CN"/>
              <a:t>This pattern tells us that the Two-Stage model is not just reprocessing stale accounting data—it is actually learning to anticipate firms’ future profitability and growth.</a:t>
            </a:r>
            <a:endParaRPr lang="en-US" altLang="zh-CN"/>
          </a:p>
          <a:p>
            <a:r>
              <a:rPr lang="en-US" altLang="zh-CN"/>
              <a:t>In other words, the model’s improved performance is economically meaningful and interpretable: its alpha comes from predicting future fundamentals, not from overfitting lagged variables</a:t>
            </a:r>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“Let me summarize the key findings of this project in one minute.</a:t>
            </a:r>
            <a:endParaRPr lang="en-US" altLang="zh-CN"/>
          </a:p>
          <a:p>
            <a:r>
              <a:rPr lang="en-US" altLang="zh-CN"/>
              <a:t>Our goal was to address a fundamental limitation of traditional multi-factor models: they rely on lagged accounting data, which often fails to reflect a firm’s current or future financial condition. To solve this, we introduced a two-stage MLP framework that first predicts next-period fundamentals and then uses these predicted fundamentals to forecast returns.</a:t>
            </a:r>
            <a:endParaRPr lang="en-US" altLang="zh-CN"/>
          </a:p>
          <a:p>
            <a:r>
              <a:rPr lang="en-US" altLang="zh-CN"/>
              <a:t>Empirically, the two-stage model consistently outperforms a strong baseline model. Importantly, the improvements are not just statistical. The model’s incremental returns exhibit meaningful alpha that is not explained by adjusted value, earnings, or growth factors. And the return patterns align more closely with realized future fundamentals than with lagged ones, suggesting that the model effectively anticipates future firm fundamentals.</a:t>
            </a:r>
            <a:endParaRPr lang="en-US" altLang="zh-CN"/>
          </a:p>
          <a:p>
            <a:r>
              <a:rPr lang="en-US" altLang="zh-CN"/>
              <a:t>In terms of contributions, the study offers a simple and interpretable way to modernize factor investing by incorporating forward-looking fundamentals. Practically, it shows that this approach can generate economically significant alpha even with a lightweight neural network.</a:t>
            </a:r>
            <a:endParaRPr lang="en-US" altLang="zh-CN"/>
          </a:p>
          <a:p>
            <a:r>
              <a:rPr lang="en-US" altLang="zh-CN"/>
              <a:t>There are limitations—such as the restricted set of fundamentals and the use of only MLPs—but these open clear paths for future work, including forecasting more types of fundamentals and testing more advanced architectures.</a:t>
            </a:r>
            <a:endParaRPr lang="en-US" altLang="zh-CN"/>
          </a:p>
          <a:p>
            <a:r>
              <a:rPr lang="en-US" altLang="zh-CN"/>
              <a:t>Overall, the project demonstrates that forecasting fundamentals is a powerful and intuitive extension to traditional factor models.”</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xml"/><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4104041" y="162"/>
            <a:ext cx="3095956" cy="3959836"/>
          </a:xfrm>
          <a:prstGeom prst="rect">
            <a:avLst/>
          </a:prstGeom>
        </p:spPr>
      </p:pic>
      <p:sp>
        <p:nvSpPr>
          <p:cNvPr id="4" name="textbox 4"/>
          <p:cNvSpPr/>
          <p:nvPr/>
        </p:nvSpPr>
        <p:spPr>
          <a:xfrm>
            <a:off x="307975" y="1299210"/>
            <a:ext cx="4295775" cy="2287270"/>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Times New Roman" panose="02020603050405020304" charset="0"/>
              <a:ea typeface="Arial" panose="020B0604020202020204"/>
              <a:cs typeface="Times New Roman" panose="02020603050405020304" charset="0"/>
            </a:endParaRPr>
          </a:p>
          <a:p>
            <a:pPr marL="13970" algn="l" rtl="0" eaLnBrk="0">
              <a:lnSpc>
                <a:spcPct val="73000"/>
              </a:lnSpc>
            </a:pPr>
            <a:r>
              <a:rPr lang="en-US" altLang="zh-CN" sz="1400" b="1" dirty="0">
                <a:solidFill>
                  <a:srgbClr val="8F2F89"/>
                </a:solidFill>
                <a:latin typeface="Times New Roman" panose="02020603050405020304" charset="0"/>
                <a:ea typeface="Arial" panose="020B0604020202020204"/>
                <a:cs typeface="Times New Roman" panose="02020603050405020304" charset="0"/>
              </a:rPr>
              <a:t>Enhancing Factor Models with Machine Learning-Based Fundamental Prediction: </a:t>
            </a:r>
            <a:endParaRPr lang="en-US" altLang="zh-CN" sz="1400" b="1" dirty="0">
              <a:solidFill>
                <a:srgbClr val="8F2F89"/>
              </a:solidFill>
              <a:latin typeface="Times New Roman" panose="02020603050405020304" charset="0"/>
              <a:ea typeface="Arial" panose="020B0604020202020204"/>
              <a:cs typeface="Times New Roman" panose="02020603050405020304" charset="0"/>
            </a:endParaRPr>
          </a:p>
          <a:p>
            <a:pPr marL="13970" algn="l" rtl="0" eaLnBrk="0">
              <a:lnSpc>
                <a:spcPct val="73000"/>
              </a:lnSpc>
            </a:pPr>
            <a:r>
              <a:rPr lang="en-US" altLang="zh-CN" sz="1400" b="1" dirty="0">
                <a:solidFill>
                  <a:srgbClr val="8F2F89"/>
                </a:solidFill>
                <a:latin typeface="Times New Roman" panose="02020603050405020304" charset="0"/>
                <a:ea typeface="Arial" panose="020B0604020202020204"/>
                <a:cs typeface="Times New Roman" panose="02020603050405020304" charset="0"/>
              </a:rPr>
              <a:t>An Approach to Mitigate Information Lag</a:t>
            </a:r>
            <a:endParaRPr lang="en-US" altLang="zh-CN" sz="1400" b="1" dirty="0">
              <a:solidFill>
                <a:srgbClr val="8F2F89"/>
              </a:solidFill>
              <a:latin typeface="Times New Roman" panose="02020603050405020304" charset="0"/>
              <a:ea typeface="Arial" panose="020B0604020202020204"/>
              <a:cs typeface="Times New Roman" panose="02020603050405020304" charset="0"/>
            </a:endParaRPr>
          </a:p>
          <a:p>
            <a:pPr marL="27305" algn="l" rtl="0" eaLnBrk="0">
              <a:lnSpc>
                <a:spcPct val="85000"/>
              </a:lnSpc>
              <a:spcBef>
                <a:spcPts val="415"/>
              </a:spcBef>
            </a:pPr>
            <a:r>
              <a:rPr sz="900" i="1" kern="0" spc="30" dirty="0">
                <a:solidFill>
                  <a:srgbClr val="72256D">
                    <a:alpha val="100000"/>
                  </a:srgbClr>
                </a:solidFill>
                <a:latin typeface="Times New Roman" panose="02020603050405020304" charset="0"/>
                <a:ea typeface="Arial" panose="020B0604020202020204"/>
                <a:cs typeface="Times New Roman" panose="02020603050405020304" charset="0"/>
              </a:rPr>
              <a:t>DDA3600:</a:t>
            </a:r>
            <a:r>
              <a:rPr sz="900" i="1" kern="0" spc="10" dirty="0">
                <a:solidFill>
                  <a:srgbClr val="72256D">
                    <a:alpha val="100000"/>
                  </a:srgbClr>
                </a:solidFill>
                <a:latin typeface="Times New Roman" panose="02020603050405020304" charset="0"/>
                <a:ea typeface="Arial" panose="020B0604020202020204"/>
                <a:cs typeface="Times New Roman" panose="02020603050405020304" charset="0"/>
              </a:rPr>
              <a:t>  </a:t>
            </a:r>
            <a:r>
              <a:rPr sz="900" i="1" kern="0" spc="30" dirty="0">
                <a:solidFill>
                  <a:srgbClr val="72256D">
                    <a:alpha val="100000"/>
                  </a:srgbClr>
                </a:solidFill>
                <a:latin typeface="Times New Roman" panose="02020603050405020304" charset="0"/>
                <a:ea typeface="Arial" panose="020B0604020202020204"/>
                <a:cs typeface="Times New Roman" panose="02020603050405020304" charset="0"/>
              </a:rPr>
              <a:t>Factor</a:t>
            </a:r>
            <a:r>
              <a:rPr sz="900" i="1" kern="0" spc="110" dirty="0">
                <a:solidFill>
                  <a:srgbClr val="72256D">
                    <a:alpha val="100000"/>
                  </a:srgbClr>
                </a:solidFill>
                <a:latin typeface="Times New Roman" panose="02020603050405020304" charset="0"/>
                <a:ea typeface="Arial" panose="020B0604020202020204"/>
                <a:cs typeface="Times New Roman" panose="02020603050405020304" charset="0"/>
              </a:rPr>
              <a:t> </a:t>
            </a:r>
            <a:r>
              <a:rPr sz="900" i="1" kern="0" spc="30" dirty="0">
                <a:solidFill>
                  <a:srgbClr val="72256D">
                    <a:alpha val="100000"/>
                  </a:srgbClr>
                </a:solidFill>
                <a:latin typeface="Times New Roman" panose="02020603050405020304" charset="0"/>
                <a:ea typeface="Arial" panose="020B0604020202020204"/>
                <a:cs typeface="Times New Roman" panose="02020603050405020304" charset="0"/>
              </a:rPr>
              <a:t>Investing</a:t>
            </a:r>
            <a:endParaRPr sz="900" dirty="0">
              <a:latin typeface="Times New Roman" panose="02020603050405020304" charset="0"/>
              <a:ea typeface="Arial" panose="020B0604020202020204"/>
              <a:cs typeface="Times New Roman" panose="02020603050405020304" charset="0"/>
            </a:endParaRPr>
          </a:p>
          <a:p>
            <a:pPr algn="l" rtl="0" eaLnBrk="0">
              <a:lnSpc>
                <a:spcPct val="125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26000"/>
              </a:lnSpc>
            </a:pPr>
            <a:endParaRPr sz="1000" dirty="0">
              <a:latin typeface="Times New Roman" panose="02020603050405020304" charset="0"/>
              <a:ea typeface="Arial" panose="020B0604020202020204"/>
              <a:cs typeface="Times New Roman" panose="02020603050405020304" charset="0"/>
            </a:endParaRPr>
          </a:p>
          <a:p>
            <a:pPr marL="16510" algn="l" rtl="0" eaLnBrk="0">
              <a:lnSpc>
                <a:spcPct val="75000"/>
              </a:lnSpc>
              <a:spcBef>
                <a:spcPts val="280"/>
              </a:spcBef>
            </a:pPr>
            <a:r>
              <a:rPr lang="en-US" altLang="zh-CN" sz="900" b="1" kern="0" spc="20" dirty="0">
                <a:solidFill>
                  <a:srgbClr val="000000">
                    <a:alpha val="100000"/>
                  </a:srgbClr>
                </a:solidFill>
                <a:latin typeface="Times New Roman" panose="02020603050405020304" charset="0"/>
                <a:ea typeface="Arial" panose="020B0604020202020204"/>
                <a:cs typeface="Times New Roman" panose="02020603050405020304" charset="0"/>
              </a:rPr>
              <a:t>Senze Jia 123090223, Changshuo Li 123090256, Nuo Chen 123090029</a:t>
            </a:r>
            <a:endParaRPr lang="en-US" altLang="zh-CN" sz="900" b="1" kern="0" spc="20" dirty="0">
              <a:solidFill>
                <a:srgbClr val="000000">
                  <a:alpha val="100000"/>
                </a:srgbClr>
              </a:solidFill>
              <a:latin typeface="Times New Roman" panose="02020603050405020304" charset="0"/>
              <a:ea typeface="Arial" panose="020B0604020202020204"/>
              <a:cs typeface="Times New Roman" panose="02020603050405020304" charset="0"/>
            </a:endParaRPr>
          </a:p>
          <a:p>
            <a:pPr marL="16510" algn="l" rtl="0" eaLnBrk="0">
              <a:lnSpc>
                <a:spcPct val="75000"/>
              </a:lnSpc>
              <a:spcBef>
                <a:spcPts val="280"/>
              </a:spcBef>
            </a:pPr>
            <a:r>
              <a:rPr sz="900" kern="0" spc="20" dirty="0">
                <a:solidFill>
                  <a:srgbClr val="000000">
                    <a:alpha val="100000"/>
                  </a:srgbClr>
                </a:solidFill>
                <a:latin typeface="Times New Roman" panose="02020603050405020304" charset="0"/>
                <a:ea typeface="Arial" panose="020B0604020202020204"/>
                <a:cs typeface="Times New Roman" panose="02020603050405020304" charset="0"/>
              </a:rPr>
              <a:t>School</a:t>
            </a:r>
            <a:r>
              <a:rPr sz="900" kern="0" spc="110" dirty="0">
                <a:solidFill>
                  <a:srgbClr val="000000">
                    <a:alpha val="100000"/>
                  </a:srgbClr>
                </a:solidFill>
                <a:latin typeface="Times New Roman" panose="02020603050405020304" charset="0"/>
                <a:ea typeface="Arial" panose="020B0604020202020204"/>
                <a:cs typeface="Times New Roman" panose="02020603050405020304" charset="0"/>
              </a:rPr>
              <a:t> </a:t>
            </a:r>
            <a:r>
              <a:rPr sz="900" kern="0" spc="20" dirty="0">
                <a:solidFill>
                  <a:srgbClr val="000000">
                    <a:alpha val="100000"/>
                  </a:srgbClr>
                </a:solidFill>
                <a:latin typeface="Times New Roman" panose="02020603050405020304" charset="0"/>
                <a:ea typeface="Arial" panose="020B0604020202020204"/>
                <a:cs typeface="Times New Roman" panose="02020603050405020304" charset="0"/>
              </a:rPr>
              <a:t>of D</a:t>
            </a:r>
            <a:r>
              <a:rPr sz="900" kern="0" spc="10" dirty="0">
                <a:solidFill>
                  <a:srgbClr val="000000">
                    <a:alpha val="100000"/>
                  </a:srgbClr>
                </a:solidFill>
                <a:latin typeface="Times New Roman" panose="02020603050405020304" charset="0"/>
                <a:ea typeface="Arial" panose="020B0604020202020204"/>
                <a:cs typeface="Times New Roman" panose="02020603050405020304" charset="0"/>
              </a:rPr>
              <a:t>ata</a:t>
            </a:r>
            <a:r>
              <a:rPr sz="900" kern="0" spc="140" dirty="0">
                <a:solidFill>
                  <a:srgbClr val="000000">
                    <a:alpha val="100000"/>
                  </a:srgbClr>
                </a:solidFill>
                <a:latin typeface="Times New Roman" panose="02020603050405020304" charset="0"/>
                <a:ea typeface="Arial" panose="020B0604020202020204"/>
                <a:cs typeface="Times New Roman" panose="02020603050405020304" charset="0"/>
              </a:rPr>
              <a:t> </a:t>
            </a:r>
            <a:r>
              <a:rPr sz="900" kern="0" spc="10" dirty="0">
                <a:solidFill>
                  <a:srgbClr val="000000">
                    <a:alpha val="100000"/>
                  </a:srgbClr>
                </a:solidFill>
                <a:latin typeface="Times New Roman" panose="02020603050405020304" charset="0"/>
                <a:ea typeface="Arial" panose="020B0604020202020204"/>
                <a:cs typeface="Times New Roman" panose="02020603050405020304" charset="0"/>
              </a:rPr>
              <a:t>Science</a:t>
            </a:r>
            <a:endParaRPr sz="900" dirty="0">
              <a:latin typeface="Times New Roman" panose="02020603050405020304" charset="0"/>
              <a:ea typeface="Arial" panose="020B0604020202020204"/>
              <a:cs typeface="Times New Roman" panose="02020603050405020304" charset="0"/>
            </a:endParaRPr>
          </a:p>
          <a:p>
            <a:pPr algn="l" rtl="0" eaLnBrk="0">
              <a:lnSpc>
                <a:spcPct val="130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30000"/>
              </a:lnSpc>
            </a:pPr>
            <a:endParaRPr sz="1000" dirty="0">
              <a:latin typeface="Times New Roman" panose="02020603050405020304" charset="0"/>
              <a:ea typeface="Arial" panose="020B0604020202020204"/>
              <a:cs typeface="Times New Roman" panose="02020603050405020304" charset="0"/>
            </a:endParaRPr>
          </a:p>
          <a:p>
            <a:pPr marL="12700" algn="l" rtl="0" eaLnBrk="0">
              <a:lnSpc>
                <a:spcPct val="74000"/>
              </a:lnSpc>
              <a:spcBef>
                <a:spcPts val="270"/>
              </a:spcBef>
            </a:pPr>
            <a:r>
              <a:rPr sz="900" kern="0" spc="0" dirty="0">
                <a:solidFill>
                  <a:srgbClr val="000000">
                    <a:alpha val="100000"/>
                  </a:srgbClr>
                </a:solidFill>
                <a:latin typeface="Times New Roman" panose="02020603050405020304" charset="0"/>
                <a:ea typeface="Arial" panose="020B0604020202020204"/>
                <a:cs typeface="Times New Roman" panose="02020603050405020304" charset="0"/>
              </a:rPr>
              <a:t>Fall</a:t>
            </a:r>
            <a:r>
              <a:rPr sz="900" kern="0" spc="120" dirty="0">
                <a:solidFill>
                  <a:srgbClr val="000000">
                    <a:alpha val="100000"/>
                  </a:srgbClr>
                </a:solidFill>
                <a:latin typeface="Times New Roman" panose="02020603050405020304" charset="0"/>
                <a:ea typeface="Arial" panose="020B0604020202020204"/>
                <a:cs typeface="Times New Roman" panose="02020603050405020304" charset="0"/>
              </a:rPr>
              <a:t> </a:t>
            </a:r>
            <a:r>
              <a:rPr sz="900" kern="0" spc="20" dirty="0">
                <a:solidFill>
                  <a:srgbClr val="000000">
                    <a:alpha val="100000"/>
                  </a:srgbClr>
                </a:solidFill>
                <a:latin typeface="Times New Roman" panose="02020603050405020304" charset="0"/>
                <a:ea typeface="Arial" panose="020B0604020202020204"/>
                <a:cs typeface="Times New Roman" panose="02020603050405020304" charset="0"/>
              </a:rPr>
              <a:t>2025</a:t>
            </a:r>
            <a:endParaRPr sz="900" dirty="0">
              <a:latin typeface="Times New Roman" panose="02020603050405020304" charset="0"/>
              <a:ea typeface="Arial" panose="020B0604020202020204"/>
              <a:cs typeface="Times New Roman" panose="02020603050405020304" charset="0"/>
            </a:endParaRPr>
          </a:p>
          <a:p>
            <a:pPr algn="l" rtl="0" eaLnBrk="0">
              <a:lnSpc>
                <a:spcPct val="116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16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16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17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17000"/>
              </a:lnSpc>
            </a:pPr>
            <a:endParaRPr sz="1000" dirty="0">
              <a:latin typeface="Times New Roman" panose="02020603050405020304" charset="0"/>
              <a:ea typeface="Arial" panose="020B0604020202020204"/>
              <a:cs typeface="Times New Roman" panose="02020603050405020304" charset="0"/>
            </a:endParaRPr>
          </a:p>
          <a:p>
            <a:pPr algn="l" rtl="0" eaLnBrk="0">
              <a:lnSpc>
                <a:spcPct val="184000"/>
              </a:lnSpc>
            </a:pPr>
            <a:endParaRPr sz="100" dirty="0">
              <a:latin typeface="Times New Roman" panose="02020603050405020304" charset="0"/>
              <a:ea typeface="Arial" panose="020B0604020202020204"/>
              <a:cs typeface="Times New Roman" panose="02020603050405020304" charset="0"/>
            </a:endParaRPr>
          </a:p>
          <a:p>
            <a:pPr marL="60960" algn="l" rtl="0" eaLnBrk="0">
              <a:lnSpc>
                <a:spcPct val="95000"/>
              </a:lnSpc>
            </a:pPr>
            <a:r>
              <a:rPr sz="700" kern="0" spc="50" dirty="0">
                <a:solidFill>
                  <a:srgbClr val="404040">
                    <a:alpha val="100000"/>
                  </a:srgbClr>
                </a:solidFill>
                <a:latin typeface="Times New Roman" panose="02020603050405020304" charset="0"/>
                <a:ea typeface="Arial" panose="020B0604020202020204"/>
                <a:cs typeface="Times New Roman" panose="02020603050405020304" charset="0"/>
              </a:rPr>
              <a:t>1/22</a:t>
            </a:r>
            <a:endParaRPr sz="700" dirty="0">
              <a:latin typeface="Times New Roman" panose="02020603050405020304" charset="0"/>
              <a:ea typeface="Arial" panose="020B0604020202020204"/>
              <a:cs typeface="Times New Roman" panose="02020603050405020304" charset="0"/>
            </a:endParaRPr>
          </a:p>
        </p:txBody>
      </p:sp>
      <p:pic>
        <p:nvPicPr>
          <p:cNvPr id="6" name="picture 6"/>
          <p:cNvPicPr>
            <a:picLocks noChangeAspect="1"/>
          </p:cNvPicPr>
          <p:nvPr/>
        </p:nvPicPr>
        <p:blipFill>
          <a:blip r:embed="rId2"/>
          <a:stretch>
            <a:fillRect/>
          </a:stretch>
        </p:blipFill>
        <p:spPr>
          <a:xfrm rot="21600000">
            <a:off x="360019" y="1"/>
            <a:ext cx="504052" cy="599997"/>
          </a:xfrm>
          <a:prstGeom prst="rect">
            <a:avLst/>
          </a:prstGeom>
        </p:spPr>
      </p:pic>
      <p:pic>
        <p:nvPicPr>
          <p:cNvPr id="3" name="图片 2"/>
          <p:cNvPicPr>
            <a:picLocks noChangeAspect="1"/>
          </p:cNvPicPr>
          <p:nvPr/>
        </p:nvPicPr>
        <p:blipFill>
          <a:blip r:embed="rId3"/>
          <a:stretch>
            <a:fillRect/>
          </a:stretch>
        </p:blipFill>
        <p:spPr>
          <a:xfrm>
            <a:off x="360045" y="0"/>
            <a:ext cx="503555" cy="5981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 8"/>
          <p:cNvSpPr/>
          <p:nvPr/>
        </p:nvSpPr>
        <p:spPr>
          <a:xfrm>
            <a:off x="0" y="0"/>
            <a:ext cx="7199998" cy="3959999"/>
          </a:xfrm>
          <a:prstGeom prst="rect">
            <a:avLst/>
          </a:prstGeom>
          <a:solidFill>
            <a:srgbClr val="72256D">
              <a:alpha val="100000"/>
            </a:srgbClr>
          </a:solidFill>
          <a:ln w="0" cap="flat">
            <a:noFill/>
            <a:prstDash val="solid"/>
            <a:miter lim="0"/>
          </a:ln>
        </p:spPr>
        <p:txBody>
          <a:bodyPr rtlCol="0"/>
          <a:lstStyle/>
          <a:p>
            <a:pPr algn="ctr"/>
            <a:endParaRPr lang="zh-CN" altLang="en-US"/>
          </a:p>
        </p:txBody>
      </p:sp>
      <p:sp>
        <p:nvSpPr>
          <p:cNvPr id="10" name="textbox 10"/>
          <p:cNvSpPr/>
          <p:nvPr/>
        </p:nvSpPr>
        <p:spPr>
          <a:xfrm>
            <a:off x="360045" y="925195"/>
            <a:ext cx="3607435" cy="2382520"/>
          </a:xfrm>
          <a:prstGeom prst="rect">
            <a:avLst/>
          </a:prstGeom>
          <a:noFill/>
          <a:ln w="0" cap="flat">
            <a:noFill/>
            <a:prstDash val="solid"/>
            <a:miter lim="0"/>
          </a:ln>
        </p:spPr>
        <p:txBody>
          <a:bodyPr vert="horz" wrap="square" lIns="0" tIns="0" rIns="0" bIns="0"/>
          <a:lstStyle/>
          <a:p>
            <a:pPr algn="l" rtl="0" eaLnBrk="0">
              <a:lnSpc>
                <a:spcPct val="82000"/>
              </a:lnSpc>
            </a:pPr>
            <a:endParaRPr sz="100" kern="100" dirty="0">
              <a:latin typeface="Times New Roman" panose="02020603050405020304" charset="0"/>
              <a:ea typeface="Arial" panose="020B0604020202020204"/>
              <a:cs typeface="Times New Roman" panose="02020603050405020304" charset="0"/>
            </a:endParaRPr>
          </a:p>
          <a:p>
            <a:pPr marL="12700" algn="l" rtl="0" eaLnBrk="0">
              <a:lnSpc>
                <a:spcPct val="97000"/>
              </a:lnSpc>
            </a:pPr>
            <a:r>
              <a:rPr sz="10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sym typeface="+mn-ea"/>
              </a:rPr>
              <a:t>▶ </a:t>
            </a:r>
            <a:r>
              <a:rPr lang="en-US" altLang="zh-CN" sz="10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rPr>
              <a:t>Introduction and Background</a:t>
            </a:r>
            <a:endParaRPr lang="en-US" altLang="zh-CN" sz="10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97000"/>
              </a:lnSpc>
            </a:pPr>
            <a:endParaRPr sz="1000" kern="100" dirty="0">
              <a:latin typeface="Times New Roman" panose="02020603050405020304" charset="0"/>
              <a:ea typeface="Arial" panose="020B0604020202020204"/>
              <a:cs typeface="Times New Roman" panose="02020603050405020304" charset="0"/>
            </a:endParaRPr>
          </a:p>
          <a:p>
            <a:pPr algn="l" rtl="0" eaLnBrk="0">
              <a:lnSpc>
                <a:spcPct val="124000"/>
              </a:lnSpc>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Data Source and Data Reprocessing</a:t>
            </a:r>
            <a:endParaRPr sz="1000" kern="100" dirty="0">
              <a:latin typeface="Times New Roman" panose="02020603050405020304" charset="0"/>
              <a:ea typeface="Arial" panose="020B0604020202020204"/>
              <a:cs typeface="Times New Roman" panose="02020603050405020304" charset="0"/>
            </a:endParaRPr>
          </a:p>
          <a:p>
            <a:pPr algn="l" rtl="0" eaLnBrk="0">
              <a:lnSpc>
                <a:spcPct val="124000"/>
              </a:lnSpc>
            </a:pP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2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Base Hypothesis Testing</a:t>
            </a: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algn="l" rtl="0" eaLnBrk="0">
              <a:lnSpc>
                <a:spcPct val="124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Two-stage Model</a:t>
            </a: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rPr>
              <a:t>▶ </a:t>
            </a:r>
            <a:r>
              <a:rPr lang="en-US" altLang="zh-CN"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rPr>
              <a:t>Mechanism Test: Interpreting the Model’s Incremental Alpha</a:t>
            </a: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Conclusion</a:t>
            </a:r>
            <a:endParaRPr sz="1000" kern="100" dirty="0">
              <a:latin typeface="Times New Roman" panose="02020603050405020304" charset="0"/>
              <a:ea typeface="Arial" panose="020B0604020202020204"/>
              <a:cs typeface="Times New Roman" panose="02020603050405020304" charset="0"/>
            </a:endParaRPr>
          </a:p>
          <a:p>
            <a:pPr algn="l" rtl="0" eaLnBrk="0">
              <a:lnSpc>
                <a:spcPct val="125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Q&amp;A</a:t>
            </a: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p:txBody>
      </p:sp>
      <p:sp>
        <p:nvSpPr>
          <p:cNvPr id="12" name="textbox 12"/>
          <p:cNvSpPr/>
          <p:nvPr/>
        </p:nvSpPr>
        <p:spPr>
          <a:xfrm>
            <a:off x="966764" y="273083"/>
            <a:ext cx="1807845" cy="3175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4000"/>
              </a:lnSpc>
            </a:pP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Table</a:t>
            </a:r>
            <a:r>
              <a:rPr sz="1400" b="1" kern="0" spc="210" dirty="0">
                <a:solidFill>
                  <a:srgbClr val="FFFFFF">
                    <a:alpha val="100000"/>
                  </a:srgbClr>
                </a:solidFill>
                <a:latin typeface="Times New Roman" panose="02020603050405020304" charset="0"/>
                <a:ea typeface="Arial" panose="020B0604020202020204"/>
                <a:cs typeface="Times New Roman" panose="02020603050405020304" charset="0"/>
              </a:rPr>
              <a:t> </a:t>
            </a: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of</a:t>
            </a:r>
            <a:r>
              <a:rPr sz="1400" b="1" kern="0" spc="130" dirty="0">
                <a:solidFill>
                  <a:srgbClr val="FFFFFF">
                    <a:alpha val="100000"/>
                  </a:srgbClr>
                </a:solidFill>
                <a:latin typeface="Times New Roman" panose="02020603050405020304" charset="0"/>
                <a:ea typeface="Arial" panose="020B0604020202020204"/>
                <a:cs typeface="Times New Roman" panose="02020603050405020304" charset="0"/>
              </a:rPr>
              <a:t> </a:t>
            </a: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Contents</a:t>
            </a:r>
            <a:endParaRPr sz="1400" dirty="0">
              <a:latin typeface="Times New Roman" panose="02020603050405020304" charset="0"/>
              <a:ea typeface="Arial" panose="020B0604020202020204"/>
              <a:cs typeface="Times New Roman" panose="02020603050405020304" charset="0"/>
            </a:endParaRPr>
          </a:p>
          <a:p>
            <a:pPr marL="15240" algn="l" rtl="0" eaLnBrk="0">
              <a:lnSpc>
                <a:spcPct val="87000"/>
              </a:lnSpc>
              <a:spcBef>
                <a:spcPts val="220"/>
              </a:spcBef>
            </a:pPr>
            <a:r>
              <a:rPr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rPr>
              <a:t>1  </a:t>
            </a:r>
            <a:r>
              <a:rPr lang="en-US" altLang="zh-CN" sz="8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sym typeface="+mn-ea"/>
              </a:rPr>
              <a:t>Introduction and Background</a:t>
            </a:r>
            <a:endParaRPr lang="en-US"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endParaRPr>
          </a:p>
        </p:txBody>
      </p:sp>
      <p:pic>
        <p:nvPicPr>
          <p:cNvPr id="14" name="picture 14"/>
          <p:cNvPicPr>
            <a:picLocks noChangeAspect="1"/>
          </p:cNvPicPr>
          <p:nvPr/>
        </p:nvPicPr>
        <p:blipFill>
          <a:blip r:embed="rId1"/>
          <a:stretch>
            <a:fillRect/>
          </a:stretch>
        </p:blipFill>
        <p:spPr>
          <a:xfrm rot="21600000">
            <a:off x="360019" y="1"/>
            <a:ext cx="504052" cy="599997"/>
          </a:xfrm>
          <a:prstGeom prst="rect">
            <a:avLst/>
          </a:prstGeom>
        </p:spPr>
      </p:pic>
      <p:sp>
        <p:nvSpPr>
          <p:cNvPr id="16" name="textbox 16"/>
          <p:cNvSpPr/>
          <p:nvPr/>
        </p:nvSpPr>
        <p:spPr>
          <a:xfrm>
            <a:off x="352658" y="3763384"/>
            <a:ext cx="235584" cy="12700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sz="700" kern="0" spc="60" dirty="0">
                <a:solidFill>
                  <a:srgbClr val="FFFFFF">
                    <a:alpha val="100000"/>
                  </a:srgbClr>
                </a:solidFill>
                <a:latin typeface="Arial" panose="020B0604020202020204"/>
                <a:ea typeface="Arial" panose="020B0604020202020204"/>
                <a:cs typeface="Arial" panose="020B0604020202020204"/>
              </a:rPr>
              <a:t>2</a:t>
            </a:r>
            <a:endParaRPr sz="700" dirty="0">
              <a:latin typeface="Arial" panose="020B0604020202020204"/>
              <a:ea typeface="Arial" panose="020B0604020202020204"/>
              <a:cs typeface="Arial" panose="020B0604020202020204"/>
            </a:endParaRPr>
          </a:p>
        </p:txBody>
      </p:sp>
      <p:pic>
        <p:nvPicPr>
          <p:cNvPr id="5" name="图片 4"/>
          <p:cNvPicPr>
            <a:picLocks noChangeAspect="1"/>
          </p:cNvPicPr>
          <p:nvPr/>
        </p:nvPicPr>
        <p:blipFill>
          <a:blip r:embed="rId2"/>
          <a:stretch>
            <a:fillRect/>
          </a:stretch>
        </p:blipFill>
        <p:spPr>
          <a:xfrm>
            <a:off x="360045" y="635"/>
            <a:ext cx="505460" cy="5994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2" name="textbox 22"/>
          <p:cNvSpPr/>
          <p:nvPr/>
        </p:nvSpPr>
        <p:spPr>
          <a:xfrm>
            <a:off x="351155" y="859155"/>
            <a:ext cx="6357620" cy="327660"/>
          </a:xfrm>
          <a:prstGeom prst="rect">
            <a:avLst/>
          </a:prstGeom>
          <a:noFill/>
          <a:ln w="0" cap="flat">
            <a:noFill/>
            <a:prstDash val="solid"/>
            <a:miter lim="0"/>
          </a:ln>
        </p:spPr>
        <p:txBody>
          <a:bodyPr vert="horz" wrap="square" lIns="0" tIns="545" rIns="0" bIns="0"/>
          <a:lstStyle/>
          <a:p>
            <a:pPr marL="12700" indent="635" algn="l" rtl="0" eaLnBrk="0">
              <a:lnSpc>
                <a:spcPct val="103000"/>
              </a:lnSpc>
              <a:spcBef>
                <a:spcPts val="5"/>
              </a:spcBef>
            </a:pPr>
            <a:r>
              <a:rPr lang="en-US" altLang="zh-CN" sz="1200" dirty="0">
                <a:latin typeface="Times New Roman" panose="02020603050405020304" charset="0"/>
                <a:ea typeface="Arial" panose="020B0604020202020204"/>
                <a:cs typeface="Times New Roman" panose="02020603050405020304" charset="0"/>
              </a:rPr>
              <a:t>The relationship between firm fundamentals and cross-sectional stock returns has been a central topic in empirical asset pricing for decades.</a:t>
            </a:r>
            <a:endParaRPr lang="en-US" altLang="zh-CN" sz="1200" dirty="0">
              <a:latin typeface="Times New Roman" panose="02020603050405020304" charset="0"/>
              <a:ea typeface="Arial" panose="020B0604020202020204"/>
              <a:cs typeface="Times New Roman" panose="02020603050405020304" charset="0"/>
            </a:endParaRPr>
          </a:p>
        </p:txBody>
      </p:sp>
      <p:sp>
        <p:nvSpPr>
          <p:cNvPr id="24"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Why Fundamentals matter?</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1  </a:t>
            </a: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Introduction and Background</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47" y="3763383"/>
            <a:ext cx="236220" cy="12700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sz="700" kern="0" spc="60" dirty="0">
                <a:solidFill>
                  <a:srgbClr val="FFFFFF">
                    <a:alpha val="100000"/>
                  </a:srgbClr>
                </a:solidFill>
                <a:latin typeface="Arial" panose="020B0604020202020204"/>
                <a:ea typeface="Arial" panose="020B0604020202020204"/>
                <a:cs typeface="Arial" panose="020B0604020202020204"/>
              </a:rPr>
              <a:t>3</a:t>
            </a:r>
            <a:endParaRPr sz="700" dirty="0">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pic>
        <p:nvPicPr>
          <p:cNvPr id="2" name="图片 1"/>
          <p:cNvPicPr>
            <a:picLocks noChangeAspect="1"/>
          </p:cNvPicPr>
          <p:nvPr/>
        </p:nvPicPr>
        <p:blipFill>
          <a:blip r:embed="rId3"/>
          <a:stretch>
            <a:fillRect/>
          </a:stretch>
        </p:blipFill>
        <p:spPr>
          <a:xfrm>
            <a:off x="713740" y="1316990"/>
            <a:ext cx="5772150" cy="20967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2" name="textbox 22"/>
          <p:cNvSpPr/>
          <p:nvPr/>
        </p:nvSpPr>
        <p:spPr>
          <a:xfrm>
            <a:off x="360045" y="993775"/>
            <a:ext cx="6357620" cy="327660"/>
          </a:xfrm>
          <a:prstGeom prst="rect">
            <a:avLst/>
          </a:prstGeom>
          <a:noFill/>
          <a:ln w="0" cap="flat">
            <a:noFill/>
            <a:prstDash val="solid"/>
            <a:miter lim="0"/>
          </a:ln>
        </p:spPr>
        <p:txBody>
          <a:bodyPr vert="horz" wrap="square" lIns="0" tIns="545" rIns="0" bIns="0"/>
          <a:lstStyle/>
          <a:p>
            <a:pPr marL="184150" indent="-171450" algn="l" rtl="0" eaLnBrk="0">
              <a:lnSpc>
                <a:spcPct val="103000"/>
              </a:lnSpc>
              <a:spcBef>
                <a:spcPts val="5"/>
              </a:spcBef>
              <a:buFont typeface="Arial" panose="020B0604020202020204" pitchFamily="34" charset="0"/>
              <a:buChar char="•"/>
            </a:pPr>
            <a:r>
              <a:rPr lang="en-US" altLang="zh-CN" sz="1200" dirty="0">
                <a:latin typeface="Times New Roman" panose="02020603050405020304" charset="0"/>
                <a:ea typeface="Arial" panose="020B0604020202020204"/>
                <a:cs typeface="Times New Roman" panose="02020603050405020304" charset="0"/>
              </a:rPr>
              <a:t>Traditional linear models rely on lagged accounting data</a:t>
            </a:r>
            <a:endParaRPr lang="en-US" altLang="zh-CN" sz="12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200" dirty="0">
                <a:latin typeface="Times New Roman" panose="02020603050405020304" charset="0"/>
                <a:ea typeface="Arial" panose="020B0604020202020204"/>
                <a:cs typeface="Times New Roman" panose="02020603050405020304" charset="0"/>
              </a:rPr>
              <a:t>Reporting delays mean fundamentals at time t may be outdated at t+1</a:t>
            </a:r>
            <a:endParaRPr lang="en-US" altLang="zh-CN" sz="12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200" dirty="0">
                <a:latin typeface="Times New Roman" panose="02020603050405020304" charset="0"/>
                <a:ea typeface="Arial" panose="020B0604020202020204"/>
                <a:cs typeface="Times New Roman" panose="02020603050405020304" charset="0"/>
              </a:rPr>
              <a:t>Stale information weakens factor exposures and predictive performance</a:t>
            </a:r>
            <a:endParaRPr lang="en-US" altLang="zh-CN" sz="12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200" dirty="0">
                <a:latin typeface="Times New Roman" panose="02020603050405020304" charset="0"/>
                <a:ea typeface="Arial" panose="020B0604020202020204"/>
                <a:cs typeface="Times New Roman" panose="02020603050405020304" charset="0"/>
              </a:rPr>
              <a:t>Problem is worse in fast-changing environments</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200" dirty="0">
                <a:latin typeface="Times New Roman" panose="02020603050405020304" charset="0"/>
                <a:ea typeface="Arial" panose="020B0604020202020204"/>
                <a:cs typeface="Times New Roman" panose="02020603050405020304" charset="0"/>
              </a:rPr>
              <a:t>This limitation motivates our primary research question:</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600" b="1" dirty="0">
                <a:latin typeface="Times New Roman" panose="02020603050405020304" charset="0"/>
                <a:ea typeface="Arial" panose="020B0604020202020204"/>
                <a:cs typeface="Times New Roman" panose="02020603050405020304" charset="0"/>
              </a:rPr>
              <a:t>Do contemporaneous fundamentals provide stronger explanatory power for next-period returns than lagged fundamentals?</a:t>
            </a:r>
            <a:endParaRPr lang="en-US" altLang="zh-CN" sz="1600" b="1" dirty="0">
              <a:latin typeface="Times New Roman" panose="02020603050405020304" charset="0"/>
              <a:ea typeface="Arial" panose="020B0604020202020204"/>
              <a:cs typeface="Times New Roman" panose="02020603050405020304" charset="0"/>
            </a:endParaRPr>
          </a:p>
        </p:txBody>
      </p:sp>
      <p:sp>
        <p:nvSpPr>
          <p:cNvPr id="24"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Limitations</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1  </a:t>
            </a: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Introduction and Background</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47" y="3763383"/>
            <a:ext cx="236220" cy="12700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4</a:t>
            </a:r>
            <a:endParaRPr sz="700" dirty="0">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2" name="textbox 22"/>
          <p:cNvSpPr/>
          <p:nvPr/>
        </p:nvSpPr>
        <p:spPr>
          <a:xfrm>
            <a:off x="485140" y="902970"/>
            <a:ext cx="6357620" cy="327660"/>
          </a:xfrm>
          <a:prstGeom prst="rect">
            <a:avLst/>
          </a:prstGeom>
          <a:noFill/>
          <a:ln w="0" cap="flat">
            <a:noFill/>
            <a:prstDash val="solid"/>
            <a:miter lim="0"/>
          </a:ln>
        </p:spPr>
        <p:txBody>
          <a:bodyPr vert="horz" wrap="square" lIns="0" tIns="545" rIns="0" bIns="0"/>
          <a:lstStyle/>
          <a:p>
            <a:pPr marL="12700" indent="635" algn="l" rtl="0" eaLnBrk="0">
              <a:lnSpc>
                <a:spcPct val="103000"/>
              </a:lnSpc>
              <a:spcBef>
                <a:spcPts val="5"/>
              </a:spcBef>
            </a:pPr>
            <a:r>
              <a:rPr lang="en-US" altLang="zh-CN" sz="1200" dirty="0">
                <a:latin typeface="Times New Roman" panose="02020603050405020304" charset="0"/>
                <a:ea typeface="Arial" panose="020B0604020202020204"/>
                <a:cs typeface="Times New Roman" panose="02020603050405020304" charset="0"/>
              </a:rPr>
              <a:t>Compare contemporaneous vs. lagged fundamentals using linear regression</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200" dirty="0">
                <a:latin typeface="Times New Roman" panose="02020603050405020304" charset="0"/>
                <a:ea typeface="Arial" panose="020B0604020202020204"/>
                <a:cs typeface="Times New Roman" panose="02020603050405020304" charset="0"/>
              </a:rPr>
              <a:t>Evaluate differences in:</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2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200" dirty="0">
                <a:latin typeface="Times New Roman" panose="02020603050405020304" charset="0"/>
                <a:ea typeface="Arial" panose="020B0604020202020204"/>
                <a:cs typeface="Times New Roman" panose="02020603050405020304" charset="0"/>
              </a:rPr>
              <a:t>Goodness-of-fit (R</a:t>
            </a:r>
            <a:r>
              <a:rPr lang="en-US" altLang="en-US" sz="1200" dirty="0">
                <a:latin typeface="Times New Roman" panose="02020603050405020304" charset="0"/>
                <a:ea typeface="Arial" panose="020B0604020202020204"/>
                <a:cs typeface="Times New Roman" panose="02020603050405020304" charset="0"/>
              </a:rPr>
              <a:t>²</a:t>
            </a:r>
            <a:r>
              <a:rPr lang="en-US" altLang="zh-CN" sz="1200" dirty="0">
                <a:latin typeface="Times New Roman" panose="02020603050405020304" charset="0"/>
                <a:ea typeface="Arial" panose="020B0604020202020204"/>
                <a:cs typeface="Times New Roman" panose="02020603050405020304" charset="0"/>
              </a:rPr>
              <a:t>)</a:t>
            </a:r>
            <a:endParaRPr lang="en-US" altLang="zh-CN" sz="12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endParaRPr lang="en-US" altLang="zh-CN" sz="12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200" dirty="0">
                <a:latin typeface="Times New Roman" panose="02020603050405020304" charset="0"/>
                <a:ea typeface="Arial" panose="020B0604020202020204"/>
                <a:cs typeface="Times New Roman" panose="02020603050405020304" charset="0"/>
              </a:rPr>
              <a:t>Significance of factor coefficients</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200" dirty="0">
              <a:latin typeface="Times New Roman" panose="02020603050405020304" charset="0"/>
              <a:ea typeface="Arial" panose="020B0604020202020204"/>
              <a:cs typeface="Times New Roman" panose="02020603050405020304" charset="0"/>
            </a:endParaRPr>
          </a:p>
        </p:txBody>
      </p:sp>
      <p:sp>
        <p:nvSpPr>
          <p:cNvPr id="24"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Objective 1: Linear Comparison</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1  </a:t>
            </a: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Introduction and Background</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47" y="3763383"/>
            <a:ext cx="236220" cy="12700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5</a:t>
            </a:r>
            <a:endParaRPr sz="700" dirty="0">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
        <p:nvSpPr>
          <p:cNvPr id="4" name="textbox 22"/>
          <p:cNvSpPr/>
          <p:nvPr/>
        </p:nvSpPr>
        <p:spPr>
          <a:xfrm>
            <a:off x="485140" y="2439670"/>
            <a:ext cx="6357620" cy="327660"/>
          </a:xfrm>
          <a:prstGeom prst="rect">
            <a:avLst/>
          </a:prstGeom>
          <a:noFill/>
          <a:ln w="0" cap="flat">
            <a:noFill/>
            <a:prstDash val="solid"/>
            <a:miter lim="0"/>
          </a:ln>
        </p:spPr>
        <p:txBody>
          <a:bodyPr vert="horz" wrap="square" lIns="0" tIns="545" rIns="0" bIns="0"/>
          <a:lstStyle/>
          <a:p>
            <a:pPr marL="12700" indent="635" algn="l" rtl="0" eaLnBrk="0">
              <a:lnSpc>
                <a:spcPct val="103000"/>
              </a:lnSpc>
              <a:spcBef>
                <a:spcPts val="5"/>
              </a:spcBef>
            </a:pPr>
            <a:r>
              <a:rPr lang="en-US" altLang="zh-CN" sz="1200" b="1" i="1" dirty="0">
                <a:latin typeface="Times New Roman" panose="02020603050405020304" charset="0"/>
                <a:ea typeface="Arial" panose="020B0604020202020204"/>
                <a:cs typeface="Times New Roman" panose="02020603050405020304" charset="0"/>
              </a:rPr>
              <a:t>H1</a:t>
            </a:r>
            <a:r>
              <a:rPr lang="en-US" altLang="zh-CN" sz="1200" i="1" dirty="0">
                <a:latin typeface="Times New Roman" panose="02020603050405020304" charset="0"/>
                <a:ea typeface="Arial" panose="020B0604020202020204"/>
                <a:cs typeface="Times New Roman" panose="02020603050405020304" charset="0"/>
              </a:rPr>
              <a:t>: Contemporaneous fundamental factors exhibit significantly stronger linear correlation with contemporaneous excess returns than lagged fundamental factors.</a:t>
            </a:r>
            <a:endParaRPr lang="en-US" altLang="zh-CN" sz="1200" i="1" dirty="0">
              <a:latin typeface="Times New Roman" panose="02020603050405020304" charset="0"/>
              <a:ea typeface="Arial" panose="020B0604020202020204"/>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2" name="textbox 22"/>
          <p:cNvSpPr/>
          <p:nvPr/>
        </p:nvSpPr>
        <p:spPr>
          <a:xfrm>
            <a:off x="485140" y="1589405"/>
            <a:ext cx="6560185" cy="327660"/>
          </a:xfrm>
          <a:prstGeom prst="rect">
            <a:avLst/>
          </a:prstGeom>
          <a:noFill/>
          <a:ln w="0" cap="flat">
            <a:noFill/>
            <a:prstDash val="solid"/>
            <a:miter lim="0"/>
          </a:ln>
        </p:spPr>
        <p:txBody>
          <a:bodyPr vert="horz" wrap="square" lIns="0" tIns="545" rIns="0" bIns="0"/>
          <a:lstStyle/>
          <a:p>
            <a:pPr marL="12700" indent="635" algn="l" rtl="0" eaLnBrk="0">
              <a:lnSpc>
                <a:spcPct val="103000"/>
              </a:lnSpc>
              <a:spcBef>
                <a:spcPts val="5"/>
              </a:spcBef>
            </a:pPr>
            <a:r>
              <a:rPr lang="en-US" altLang="zh-CN" sz="1200" dirty="0">
                <a:latin typeface="Times New Roman" panose="02020603050405020304" charset="0"/>
                <a:ea typeface="Arial" panose="020B0604020202020204"/>
                <a:cs typeface="Times New Roman" panose="02020603050405020304" charset="0"/>
              </a:rPr>
              <a:t>Develop a two-stage MLP-based prediction framework</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200" b="1" dirty="0">
                <a:latin typeface="Times New Roman" panose="02020603050405020304" charset="0"/>
                <a:ea typeface="Arial" panose="020B0604020202020204"/>
                <a:cs typeface="Times New Roman" panose="02020603050405020304" charset="0"/>
              </a:rPr>
              <a:t>Stage 1:</a:t>
            </a:r>
            <a:r>
              <a:rPr lang="en-US" altLang="zh-CN" sz="1200" dirty="0">
                <a:latin typeface="Times New Roman" panose="02020603050405020304" charset="0"/>
                <a:ea typeface="Arial" panose="020B0604020202020204"/>
                <a:cs typeface="Times New Roman" panose="02020603050405020304" charset="0"/>
              </a:rPr>
              <a:t> Forecast the next-period fundamental vector</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200" b="1" dirty="0">
                <a:latin typeface="Times New Roman" panose="02020603050405020304" charset="0"/>
                <a:ea typeface="Arial" panose="020B0604020202020204"/>
                <a:cs typeface="Times New Roman" panose="02020603050405020304" charset="0"/>
              </a:rPr>
              <a:t>Stage 2:</a:t>
            </a:r>
            <a:r>
              <a:rPr lang="en-US" altLang="zh-CN" sz="1200" dirty="0">
                <a:latin typeface="Times New Roman" panose="02020603050405020304" charset="0"/>
                <a:ea typeface="Arial" panose="020B0604020202020204"/>
                <a:cs typeface="Times New Roman" panose="02020603050405020304" charset="0"/>
              </a:rPr>
              <a:t> Use forecasted fundamentals + controls to predict excess returns (same architecture as baseline)</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200" dirty="0">
                <a:latin typeface="Times New Roman" panose="02020603050405020304" charset="0"/>
                <a:ea typeface="Arial" panose="020B0604020202020204"/>
                <a:cs typeface="Times New Roman" panose="02020603050405020304" charset="0"/>
              </a:rPr>
              <a:t>Goal: create cleaner, forward-looking signals</a:t>
            </a:r>
            <a:endParaRPr lang="en-US" altLang="zh-CN" sz="1200" dirty="0">
              <a:latin typeface="Times New Roman" panose="02020603050405020304" charset="0"/>
              <a:ea typeface="Arial" panose="020B0604020202020204"/>
              <a:cs typeface="Times New Roman" panose="02020603050405020304" charset="0"/>
            </a:endParaRPr>
          </a:p>
        </p:txBody>
      </p:sp>
      <p:sp>
        <p:nvSpPr>
          <p:cNvPr id="24"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Objective 2: Two-Stage Non-Linear Model</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1  </a:t>
            </a: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Introduction and Background</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47" y="3763383"/>
            <a:ext cx="236220" cy="12700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6</a:t>
            </a:r>
            <a:endParaRPr sz="700" dirty="0">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
        <p:nvSpPr>
          <p:cNvPr id="2" name="textbox 22"/>
          <p:cNvSpPr/>
          <p:nvPr/>
        </p:nvSpPr>
        <p:spPr>
          <a:xfrm>
            <a:off x="485140" y="661670"/>
            <a:ext cx="6357620" cy="327660"/>
          </a:xfrm>
          <a:prstGeom prst="rect">
            <a:avLst/>
          </a:prstGeom>
          <a:noFill/>
          <a:ln w="0" cap="flat">
            <a:noFill/>
            <a:prstDash val="solid"/>
            <a:miter lim="0"/>
          </a:ln>
        </p:spPr>
        <p:txBody>
          <a:bodyPr vert="horz" wrap="square" lIns="0" tIns="545" rIns="0" bIns="0"/>
          <a:lstStyle/>
          <a:p>
            <a:pPr marL="12700" indent="635" algn="l" rtl="0" eaLnBrk="0">
              <a:lnSpc>
                <a:spcPct val="103000"/>
              </a:lnSpc>
              <a:spcBef>
                <a:spcPts val="5"/>
              </a:spcBef>
            </a:pPr>
            <a:endParaRPr lang="en-US" altLang="zh-CN" sz="1200" dirty="0">
              <a:latin typeface="Times New Roman" panose="02020603050405020304" charset="0"/>
              <a:ea typeface="Arial" panose="020B0604020202020204"/>
              <a:cs typeface="Times New Roman" panose="02020603050405020304" charset="0"/>
            </a:endParaRPr>
          </a:p>
        </p:txBody>
      </p:sp>
      <p:sp>
        <p:nvSpPr>
          <p:cNvPr id="4" name="textbox 22"/>
          <p:cNvSpPr/>
          <p:nvPr/>
        </p:nvSpPr>
        <p:spPr>
          <a:xfrm>
            <a:off x="485140" y="989330"/>
            <a:ext cx="6357620" cy="327660"/>
          </a:xfrm>
          <a:prstGeom prst="rect">
            <a:avLst/>
          </a:prstGeom>
          <a:noFill/>
          <a:ln w="0" cap="flat">
            <a:noFill/>
            <a:prstDash val="solid"/>
            <a:miter lim="0"/>
          </a:ln>
        </p:spPr>
        <p:txBody>
          <a:bodyPr vert="horz" wrap="square" lIns="0" tIns="545" rIns="0" bIns="0"/>
          <a:lstStyle/>
          <a:p>
            <a:pPr marL="12700" indent="635" algn="l" rtl="0" eaLnBrk="0">
              <a:lnSpc>
                <a:spcPct val="103000"/>
              </a:lnSpc>
              <a:spcBef>
                <a:spcPts val="5"/>
              </a:spcBef>
            </a:pPr>
            <a:r>
              <a:rPr lang="en-US" altLang="zh-CN" sz="1200" dirty="0">
                <a:latin typeface="Times New Roman" panose="02020603050405020304" charset="0"/>
                <a:ea typeface="Arial" panose="020B0604020202020204"/>
                <a:cs typeface="Times New Roman" panose="02020603050405020304" charset="0"/>
              </a:rPr>
              <a:t>Construct a baseline model: predict next-period returns using current fundamentals based on MLP </a:t>
            </a:r>
            <a:endParaRPr lang="en-US" altLang="zh-CN" sz="1200" dirty="0">
              <a:latin typeface="Times New Roman" panose="02020603050405020304" charset="0"/>
              <a:ea typeface="Arial" panose="020B0604020202020204"/>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2" name="textbox 22"/>
          <p:cNvSpPr/>
          <p:nvPr/>
        </p:nvSpPr>
        <p:spPr>
          <a:xfrm>
            <a:off x="485140" y="751205"/>
            <a:ext cx="6357620" cy="327660"/>
          </a:xfrm>
          <a:prstGeom prst="rect">
            <a:avLst/>
          </a:prstGeom>
          <a:noFill/>
          <a:ln w="0" cap="flat">
            <a:noFill/>
            <a:prstDash val="solid"/>
            <a:miter lim="0"/>
          </a:ln>
        </p:spPr>
        <p:txBody>
          <a:bodyPr vert="horz" wrap="square" lIns="0" tIns="545" rIns="0" bIns="0"/>
          <a:lstStyle/>
          <a:p>
            <a:pPr marL="12700" indent="635" algn="l" rtl="0" eaLnBrk="0">
              <a:lnSpc>
                <a:spcPct val="103000"/>
              </a:lnSpc>
              <a:spcBef>
                <a:spcPts val="5"/>
              </a:spcBef>
            </a:pPr>
            <a:r>
              <a:rPr lang="en-US" altLang="zh-CN" sz="1000" dirty="0">
                <a:latin typeface="Times New Roman" panose="02020603050405020304" charset="0"/>
                <a:ea typeface="Arial" panose="020B0604020202020204"/>
                <a:cs typeface="Times New Roman" panose="02020603050405020304" charset="0"/>
              </a:rPr>
              <a:t>1. Captures Nonlinear Relationships</a:t>
            </a:r>
            <a:endParaRPr lang="en-US" altLang="zh-CN" sz="10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000" dirty="0">
                <a:latin typeface="Times New Roman" panose="02020603050405020304" charset="0"/>
                <a:ea typeface="Arial" panose="020B0604020202020204"/>
                <a:cs typeface="Times New Roman" panose="02020603050405020304" charset="0"/>
              </a:rPr>
              <a:t>Fundamentals and returns exhibit complex nonlinear interactions</a:t>
            </a:r>
            <a:endParaRPr lang="en-US" altLang="zh-CN" sz="10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000" dirty="0">
                <a:latin typeface="Times New Roman" panose="02020603050405020304" charset="0"/>
                <a:ea typeface="Arial" panose="020B0604020202020204"/>
                <a:cs typeface="Times New Roman" panose="02020603050405020304" charset="0"/>
              </a:rPr>
              <a:t>MLP can model cross-factor interactions that linear models miss</a:t>
            </a:r>
            <a:endParaRPr lang="en-US" altLang="zh-CN" sz="10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000" dirty="0">
                <a:latin typeface="Times New Roman" panose="02020603050405020304" charset="0"/>
                <a:ea typeface="Arial" panose="020B0604020202020204"/>
                <a:cs typeface="Times New Roman" panose="02020603050405020304" charset="0"/>
              </a:rPr>
              <a:t>Essential for handling high-dimensional characteristic sets</a:t>
            </a:r>
            <a:endParaRPr lang="en-US" altLang="zh-CN" sz="10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0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000" dirty="0">
                <a:latin typeface="Times New Roman" panose="02020603050405020304" charset="0"/>
                <a:ea typeface="Arial" panose="020B0604020202020204"/>
                <a:cs typeface="Times New Roman" panose="02020603050405020304" charset="0"/>
              </a:rPr>
              <a:t>2. Well Suited for Two-Stage Design</a:t>
            </a:r>
            <a:endParaRPr lang="en-US" altLang="zh-CN" sz="10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000" dirty="0">
                <a:latin typeface="Times New Roman" panose="02020603050405020304" charset="0"/>
                <a:ea typeface="Arial" panose="020B0604020202020204"/>
                <a:cs typeface="Times New Roman" panose="02020603050405020304" charset="0"/>
              </a:rPr>
              <a:t>Stage I: Predicting fundamentals is a stable, structured regression task</a:t>
            </a:r>
            <a:endParaRPr lang="en-US" altLang="zh-CN" sz="10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000" dirty="0">
                <a:latin typeface="Times New Roman" panose="02020603050405020304" charset="0"/>
                <a:ea typeface="Arial" panose="020B0604020202020204"/>
                <a:cs typeface="Times New Roman" panose="02020603050405020304" charset="0"/>
              </a:rPr>
              <a:t>Stage II: Combining predicted fundamentals + control variables requires flexible nonlinear mapping</a:t>
            </a:r>
            <a:endParaRPr lang="en-US" altLang="zh-CN" sz="10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000" dirty="0">
                <a:latin typeface="Times New Roman" panose="02020603050405020304" charset="0"/>
                <a:ea typeface="Arial" panose="020B0604020202020204"/>
                <a:cs typeface="Times New Roman" panose="02020603050405020304" charset="0"/>
              </a:rPr>
              <a:t>MLP naturally supports both tasks with the same architecture</a:t>
            </a:r>
            <a:endParaRPr lang="en-US" altLang="zh-CN" sz="10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0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000" dirty="0">
                <a:latin typeface="Times New Roman" panose="02020603050405020304" charset="0"/>
                <a:ea typeface="Arial" panose="020B0604020202020204"/>
                <a:cs typeface="Times New Roman" panose="02020603050405020304" charset="0"/>
              </a:rPr>
              <a:t>3. Ensures Fair Comparison</a:t>
            </a:r>
            <a:endParaRPr lang="en-US" altLang="zh-CN" sz="10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000" dirty="0">
                <a:latin typeface="Times New Roman" panose="02020603050405020304" charset="0"/>
                <a:ea typeface="Arial" panose="020B0604020202020204"/>
                <a:cs typeface="Times New Roman" panose="02020603050405020304" charset="0"/>
              </a:rPr>
              <a:t>Stage II uses exactly the same MLP architecture as the baseline</a:t>
            </a:r>
            <a:endParaRPr lang="en-US" altLang="zh-CN" sz="10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000" dirty="0">
                <a:latin typeface="Times New Roman" panose="02020603050405020304" charset="0"/>
                <a:ea typeface="Arial" panose="020B0604020202020204"/>
                <a:cs typeface="Times New Roman" panose="02020603050405020304" charset="0"/>
              </a:rPr>
              <a:t>Any performance difference comes from better input features, not model complexity</a:t>
            </a:r>
            <a:endParaRPr lang="en-US" altLang="zh-CN" sz="10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0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000" dirty="0">
                <a:latin typeface="Times New Roman" panose="02020603050405020304" charset="0"/>
                <a:ea typeface="Arial" panose="020B0604020202020204"/>
                <a:cs typeface="Times New Roman" panose="02020603050405020304" charset="0"/>
              </a:rPr>
              <a:t>4. Appropriate for Dataset Size</a:t>
            </a:r>
            <a:endParaRPr lang="en-US" altLang="zh-CN" sz="10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000" dirty="0">
                <a:latin typeface="Times New Roman" panose="02020603050405020304" charset="0"/>
                <a:ea typeface="Arial" panose="020B0604020202020204"/>
                <a:cs typeface="Times New Roman" panose="02020603050405020304" charset="0"/>
              </a:rPr>
              <a:t>Monthly data from 2014–2023 </a:t>
            </a:r>
            <a:r>
              <a:rPr lang="en-US" altLang="en-US" sz="1000" dirty="0">
                <a:latin typeface="Times New Roman" panose="02020603050405020304" charset="0"/>
                <a:ea typeface="Arial" panose="020B0604020202020204"/>
                <a:cs typeface="Times New Roman" panose="02020603050405020304" charset="0"/>
              </a:rPr>
              <a:t>→</a:t>
            </a:r>
            <a:r>
              <a:rPr lang="en-US" altLang="zh-CN" sz="1000" dirty="0">
                <a:latin typeface="Times New Roman" panose="02020603050405020304" charset="0"/>
                <a:ea typeface="Arial" panose="020B0604020202020204"/>
                <a:cs typeface="Times New Roman" panose="02020603050405020304" charset="0"/>
              </a:rPr>
              <a:t> moderate sample size</a:t>
            </a:r>
            <a:endParaRPr lang="en-US" altLang="zh-CN" sz="10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000" dirty="0">
                <a:latin typeface="Times New Roman" panose="02020603050405020304" charset="0"/>
                <a:ea typeface="Arial" panose="020B0604020202020204"/>
                <a:cs typeface="Times New Roman" panose="02020603050405020304" charset="0"/>
              </a:rPr>
              <a:t>More complex models (LSTM, Transformer) would overfit</a:t>
            </a:r>
            <a:endParaRPr lang="en-US" altLang="zh-CN" sz="10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000" dirty="0">
                <a:latin typeface="Times New Roman" panose="02020603050405020304" charset="0"/>
                <a:ea typeface="Arial" panose="020B0604020202020204"/>
                <a:cs typeface="Times New Roman" panose="02020603050405020304" charset="0"/>
              </a:rPr>
              <a:t>MLP achieves the right balance between flexibility and stability</a:t>
            </a:r>
            <a:endParaRPr lang="en-US" altLang="zh-CN" sz="1000" dirty="0">
              <a:latin typeface="Times New Roman" panose="02020603050405020304" charset="0"/>
              <a:ea typeface="Arial" panose="020B0604020202020204"/>
              <a:cs typeface="Times New Roman" panose="02020603050405020304" charset="0"/>
            </a:endParaRPr>
          </a:p>
        </p:txBody>
      </p:sp>
      <p:sp>
        <p:nvSpPr>
          <p:cNvPr id="24"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Why MLP?</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1  </a:t>
            </a: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Introduction and Background</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47" y="3763383"/>
            <a:ext cx="236220" cy="12700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7</a:t>
            </a:r>
            <a:endParaRPr sz="700" dirty="0">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 8"/>
          <p:cNvSpPr/>
          <p:nvPr/>
        </p:nvSpPr>
        <p:spPr>
          <a:xfrm>
            <a:off x="0" y="0"/>
            <a:ext cx="7199998" cy="3959999"/>
          </a:xfrm>
          <a:prstGeom prst="rect">
            <a:avLst/>
          </a:prstGeom>
          <a:solidFill>
            <a:srgbClr val="72256D">
              <a:alpha val="100000"/>
            </a:srgbClr>
          </a:solidFill>
          <a:ln w="0" cap="flat">
            <a:noFill/>
            <a:prstDash val="solid"/>
            <a:miter lim="0"/>
          </a:ln>
        </p:spPr>
        <p:txBody>
          <a:bodyPr rtlCol="0"/>
          <a:lstStyle/>
          <a:p>
            <a:pPr algn="ctr"/>
            <a:endParaRPr lang="zh-CN" altLang="en-US"/>
          </a:p>
        </p:txBody>
      </p:sp>
      <p:sp>
        <p:nvSpPr>
          <p:cNvPr id="10" name="textbox 10"/>
          <p:cNvSpPr/>
          <p:nvPr/>
        </p:nvSpPr>
        <p:spPr>
          <a:xfrm>
            <a:off x="360045" y="925195"/>
            <a:ext cx="3607435" cy="2382520"/>
          </a:xfrm>
          <a:prstGeom prst="rect">
            <a:avLst/>
          </a:prstGeom>
          <a:noFill/>
          <a:ln w="0" cap="flat">
            <a:noFill/>
            <a:prstDash val="solid"/>
            <a:miter lim="0"/>
          </a:ln>
        </p:spPr>
        <p:txBody>
          <a:bodyPr vert="horz" wrap="square" lIns="0" tIns="0" rIns="0" bIns="0"/>
          <a:lstStyle/>
          <a:p>
            <a:pPr algn="l" rtl="0" eaLnBrk="0">
              <a:lnSpc>
                <a:spcPct val="82000"/>
              </a:lnSpc>
            </a:pPr>
            <a:endParaRPr sz="100" kern="100" dirty="0">
              <a:latin typeface="Times New Roman" panose="02020603050405020304" charset="0"/>
              <a:ea typeface="Arial" panose="020B0604020202020204"/>
              <a:cs typeface="Times New Roman" panose="02020603050405020304" charset="0"/>
            </a:endParaRPr>
          </a:p>
          <a:p>
            <a:pPr marL="12700" algn="l" rtl="0" eaLnBrk="0">
              <a:lnSpc>
                <a:spcPct val="97000"/>
              </a:lnSpc>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altLang="zh-CN"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rPr>
              <a:t>Introduction and Background</a:t>
            </a:r>
            <a:endParaRPr lang="en-US" altLang="zh-CN"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97000"/>
              </a:lnSpc>
            </a:pPr>
            <a:endParaRPr sz="1000" kern="100" dirty="0">
              <a:latin typeface="Times New Roman" panose="02020603050405020304" charset="0"/>
              <a:ea typeface="Arial" panose="020B0604020202020204"/>
              <a:cs typeface="Times New Roman" panose="02020603050405020304" charset="0"/>
            </a:endParaRPr>
          </a:p>
          <a:p>
            <a:pPr algn="l" rtl="0" eaLnBrk="0">
              <a:lnSpc>
                <a:spcPct val="124000"/>
              </a:lnSpc>
            </a:pPr>
            <a:r>
              <a:rPr sz="10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sym typeface="+mn-ea"/>
              </a:rPr>
              <a:t>Data Source and Data Reprocessing</a:t>
            </a:r>
            <a:endParaRPr sz="1000" kern="100" dirty="0">
              <a:solidFill>
                <a:schemeClr val="bg1"/>
              </a:solidFill>
              <a:latin typeface="Times New Roman" panose="02020603050405020304" charset="0"/>
              <a:ea typeface="Arial" panose="020B0604020202020204"/>
              <a:cs typeface="Times New Roman" panose="02020603050405020304" charset="0"/>
            </a:endParaRPr>
          </a:p>
          <a:p>
            <a:pPr algn="l" rtl="0" eaLnBrk="0">
              <a:lnSpc>
                <a:spcPct val="124000"/>
              </a:lnSpc>
            </a:pP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2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Base Hypothesis Testing</a:t>
            </a: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algn="l" rtl="0" eaLnBrk="0">
              <a:lnSpc>
                <a:spcPct val="124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Two-stage Model</a:t>
            </a: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rPr>
              <a:t>▶ </a:t>
            </a:r>
            <a:r>
              <a:rPr lang="en-US" altLang="zh-CN"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rPr>
              <a:t>Mechanism Test: Interpreting the Model’s Incremental Alpha</a:t>
            </a: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Conclusion</a:t>
            </a:r>
            <a:endParaRPr sz="1000" kern="100" dirty="0">
              <a:latin typeface="Times New Roman" panose="02020603050405020304" charset="0"/>
              <a:ea typeface="Arial" panose="020B0604020202020204"/>
              <a:cs typeface="Times New Roman" panose="02020603050405020304" charset="0"/>
            </a:endParaRPr>
          </a:p>
          <a:p>
            <a:pPr algn="l" rtl="0" eaLnBrk="0">
              <a:lnSpc>
                <a:spcPct val="125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Q&amp;A</a:t>
            </a: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p:txBody>
      </p:sp>
      <p:sp>
        <p:nvSpPr>
          <p:cNvPr id="12" name="textbox 12"/>
          <p:cNvSpPr/>
          <p:nvPr/>
        </p:nvSpPr>
        <p:spPr>
          <a:xfrm>
            <a:off x="966764" y="273083"/>
            <a:ext cx="1807845" cy="3175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4000"/>
              </a:lnSpc>
            </a:pP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Table</a:t>
            </a:r>
            <a:r>
              <a:rPr sz="1400" b="1" kern="0" spc="210" dirty="0">
                <a:solidFill>
                  <a:srgbClr val="FFFFFF">
                    <a:alpha val="100000"/>
                  </a:srgbClr>
                </a:solidFill>
                <a:latin typeface="Times New Roman" panose="02020603050405020304" charset="0"/>
                <a:ea typeface="Arial" panose="020B0604020202020204"/>
                <a:cs typeface="Times New Roman" panose="02020603050405020304" charset="0"/>
              </a:rPr>
              <a:t> </a:t>
            </a: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of</a:t>
            </a:r>
            <a:r>
              <a:rPr sz="1400" b="1" kern="0" spc="130" dirty="0">
                <a:solidFill>
                  <a:srgbClr val="FFFFFF">
                    <a:alpha val="100000"/>
                  </a:srgbClr>
                </a:solidFill>
                <a:latin typeface="Times New Roman" panose="02020603050405020304" charset="0"/>
                <a:ea typeface="Arial" panose="020B0604020202020204"/>
                <a:cs typeface="Times New Roman" panose="02020603050405020304" charset="0"/>
              </a:rPr>
              <a:t> </a:t>
            </a: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Contents</a:t>
            </a:r>
            <a:endParaRPr sz="1400" dirty="0">
              <a:latin typeface="Times New Roman" panose="02020603050405020304" charset="0"/>
              <a:ea typeface="Arial" panose="020B0604020202020204"/>
              <a:cs typeface="Times New Roman" panose="02020603050405020304" charset="0"/>
            </a:endParaRPr>
          </a:p>
          <a:p>
            <a:pPr marL="15240" algn="l" rtl="0" eaLnBrk="0">
              <a:lnSpc>
                <a:spcPct val="87000"/>
              </a:lnSpc>
              <a:spcBef>
                <a:spcPts val="220"/>
              </a:spcBef>
            </a:pPr>
            <a:r>
              <a:rPr lang="en-US"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rPr>
              <a:t>2</a:t>
            </a:r>
            <a:r>
              <a:rPr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rPr>
              <a:t>  </a:t>
            </a:r>
            <a:r>
              <a:rPr lang="en-US" sz="8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sym typeface="+mn-ea"/>
              </a:rPr>
              <a:t>Data Source and Data Reprocessing</a:t>
            </a:r>
            <a:endParaRPr lang="en-US"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endParaRPr>
          </a:p>
        </p:txBody>
      </p:sp>
      <p:pic>
        <p:nvPicPr>
          <p:cNvPr id="14" name="picture 14"/>
          <p:cNvPicPr>
            <a:picLocks noChangeAspect="1"/>
          </p:cNvPicPr>
          <p:nvPr/>
        </p:nvPicPr>
        <p:blipFill>
          <a:blip r:embed="rId1"/>
          <a:stretch>
            <a:fillRect/>
          </a:stretch>
        </p:blipFill>
        <p:spPr>
          <a:xfrm rot="21600000">
            <a:off x="360019" y="1"/>
            <a:ext cx="504052" cy="599997"/>
          </a:xfrm>
          <a:prstGeom prst="rect">
            <a:avLst/>
          </a:prstGeom>
        </p:spPr>
      </p:pic>
      <p:sp>
        <p:nvSpPr>
          <p:cNvPr id="16" name="textbox 16"/>
          <p:cNvSpPr/>
          <p:nvPr/>
        </p:nvSpPr>
        <p:spPr>
          <a:xfrm>
            <a:off x="352658" y="3763384"/>
            <a:ext cx="235584" cy="12700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8</a:t>
            </a:r>
            <a:endParaRPr lang="en-US" sz="700" kern="0" spc="60" dirty="0">
              <a:solidFill>
                <a:srgbClr val="FFFFFF">
                  <a:alpha val="100000"/>
                </a:srgbClr>
              </a:solidFill>
              <a:latin typeface="Arial" panose="020B0604020202020204"/>
              <a:ea typeface="Arial" panose="020B0604020202020204"/>
              <a:cs typeface="Arial" panose="020B0604020202020204"/>
            </a:endParaRPr>
          </a:p>
        </p:txBody>
      </p:sp>
      <p:pic>
        <p:nvPicPr>
          <p:cNvPr id="5" name="图片 4"/>
          <p:cNvPicPr>
            <a:picLocks noChangeAspect="1"/>
          </p:cNvPicPr>
          <p:nvPr/>
        </p:nvPicPr>
        <p:blipFill>
          <a:blip r:embed="rId2"/>
          <a:stretch>
            <a:fillRect/>
          </a:stretch>
        </p:blipFill>
        <p:spPr>
          <a:xfrm>
            <a:off x="360045" y="635"/>
            <a:ext cx="505460" cy="5994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2" name="textbox 22"/>
          <p:cNvSpPr/>
          <p:nvPr/>
        </p:nvSpPr>
        <p:spPr>
          <a:xfrm>
            <a:off x="313690" y="923925"/>
            <a:ext cx="2858135" cy="2080260"/>
          </a:xfrm>
          <a:prstGeom prst="rect">
            <a:avLst/>
          </a:prstGeom>
          <a:noFill/>
          <a:ln w="0" cap="flat">
            <a:noFill/>
            <a:prstDash val="solid"/>
            <a:miter lim="0"/>
          </a:ln>
        </p:spPr>
        <p:txBody>
          <a:bodyPr vert="horz" wrap="square" lIns="0" tIns="545" rIns="0" bIns="0"/>
          <a:lstStyle/>
          <a:p>
            <a:pPr marL="12700" indent="635" algn="l" rtl="0" eaLnBrk="0">
              <a:lnSpc>
                <a:spcPct val="103000"/>
              </a:lnSpc>
              <a:spcBef>
                <a:spcPts val="5"/>
              </a:spcBef>
            </a:pPr>
            <a:r>
              <a:rPr lang="en-US" altLang="zh-CN" sz="1200" dirty="0">
                <a:latin typeface="Times New Roman" panose="02020603050405020304" charset="0"/>
                <a:ea typeface="Arial" panose="020B0604020202020204"/>
                <a:cs typeface="Times New Roman" panose="02020603050405020304" charset="0"/>
              </a:rPr>
              <a:t>The research utilizes a comprehensive dataset spanning from January 2014 to December 2023. </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2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200" dirty="0">
                <a:latin typeface="Times New Roman" panose="02020603050405020304" charset="0"/>
                <a:ea typeface="Arial" panose="020B0604020202020204"/>
                <a:cs typeface="Times New Roman" panose="02020603050405020304" charset="0"/>
              </a:rPr>
              <a:t>Selected characteristics are widely validated in empirical asset pricing</a:t>
            </a:r>
            <a:endParaRPr lang="en-US" altLang="zh-CN" sz="12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200" dirty="0">
                <a:latin typeface="Times New Roman" panose="02020603050405020304" charset="0"/>
                <a:ea typeface="Arial" panose="020B0604020202020204"/>
                <a:cs typeface="Times New Roman" panose="02020603050405020304" charset="0"/>
              </a:rPr>
              <a:t>Cover value, profitability, investment, and accrual dimensions</a:t>
            </a:r>
            <a:endParaRPr lang="en-US" altLang="zh-CN" sz="1200" dirty="0">
              <a:latin typeface="Times New Roman" panose="02020603050405020304" charset="0"/>
              <a:ea typeface="Arial" panose="020B0604020202020204"/>
              <a:cs typeface="Times New Roman" panose="02020603050405020304" charset="0"/>
            </a:endParaRPr>
          </a:p>
          <a:p>
            <a:pPr marL="184150" indent="-171450" algn="l" rtl="0" eaLnBrk="0">
              <a:lnSpc>
                <a:spcPct val="103000"/>
              </a:lnSpc>
              <a:spcBef>
                <a:spcPts val="5"/>
              </a:spcBef>
              <a:buFont typeface="Arial" panose="020B0604020202020204" pitchFamily="34" charset="0"/>
              <a:buChar char="•"/>
            </a:pPr>
            <a:r>
              <a:rPr lang="en-US" altLang="zh-CN" sz="1200" dirty="0">
                <a:latin typeface="Times New Roman" panose="02020603050405020304" charset="0"/>
                <a:ea typeface="Arial" panose="020B0604020202020204"/>
                <a:cs typeface="Times New Roman" panose="02020603050405020304" charset="0"/>
              </a:rPr>
              <a:t>Ensure the model inputs are economically meaningful and robust</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200" dirty="0">
              <a:latin typeface="Times New Roman" panose="02020603050405020304" charset="0"/>
              <a:ea typeface="Arial" panose="020B0604020202020204"/>
              <a:cs typeface="Times New Roman" panose="02020603050405020304" charset="0"/>
            </a:endParaRPr>
          </a:p>
        </p:txBody>
      </p:sp>
      <p:sp>
        <p:nvSpPr>
          <p:cNvPr id="24"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Data Source and Processing</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2</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Data Source and Data Reprocessing</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47" y="3763383"/>
            <a:ext cx="236220" cy="12700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9</a:t>
            </a:r>
            <a:endParaRPr sz="700" dirty="0">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pic>
        <p:nvPicPr>
          <p:cNvPr id="4" name="图片 3" descr="ChatGPT Image 2025年12月6日 20_44_30"/>
          <p:cNvPicPr>
            <a:picLocks noChangeAspect="1"/>
          </p:cNvPicPr>
          <p:nvPr/>
        </p:nvPicPr>
        <p:blipFill>
          <a:blip r:embed="rId3"/>
          <a:stretch>
            <a:fillRect/>
          </a:stretch>
        </p:blipFill>
        <p:spPr>
          <a:xfrm>
            <a:off x="3171825" y="590550"/>
            <a:ext cx="3930650" cy="2621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2" name="textbox 22"/>
          <p:cNvSpPr/>
          <p:nvPr/>
        </p:nvSpPr>
        <p:spPr>
          <a:xfrm>
            <a:off x="408940" y="650875"/>
            <a:ext cx="6433185" cy="2575560"/>
          </a:xfrm>
          <a:prstGeom prst="rect">
            <a:avLst/>
          </a:prstGeom>
          <a:noFill/>
          <a:ln w="0" cap="flat">
            <a:noFill/>
            <a:prstDash val="solid"/>
            <a:miter lim="0"/>
          </a:ln>
        </p:spPr>
        <p:txBody>
          <a:bodyPr vert="horz" wrap="square" lIns="0" tIns="545" rIns="0" bIns="0"/>
          <a:lstStyle/>
          <a:p>
            <a:pPr marL="12700" indent="635" algn="l" rtl="0" eaLnBrk="0">
              <a:lnSpc>
                <a:spcPct val="103000"/>
              </a:lnSpc>
              <a:spcBef>
                <a:spcPts val="5"/>
              </a:spcBef>
            </a:pPr>
            <a:r>
              <a:rPr lang="en-US" altLang="zh-CN" sz="1200" dirty="0">
                <a:latin typeface="Times New Roman" panose="02020603050405020304" charset="0"/>
                <a:ea typeface="Arial" panose="020B0604020202020204"/>
                <a:cs typeface="Times New Roman" panose="02020603050405020304" charset="0"/>
              </a:rPr>
              <a:t>To ensure reliable statistical analysis and stable model training, all fundamental and market-based factors undergo a series of preprocessing steps:</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200" b="1" dirty="0">
                <a:latin typeface="Times New Roman" panose="02020603050405020304" charset="0"/>
                <a:ea typeface="Arial" panose="020B0604020202020204"/>
                <a:cs typeface="Times New Roman" panose="02020603050405020304" charset="0"/>
              </a:rPr>
              <a:t>1. Handling Missing Values</a:t>
            </a:r>
            <a:endParaRPr lang="en-US" altLang="zh-CN" sz="1200" b="1"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200" dirty="0">
                <a:latin typeface="Times New Roman" panose="02020603050405020304" charset="0"/>
                <a:ea typeface="Arial" panose="020B0604020202020204"/>
                <a:cs typeface="Times New Roman" panose="02020603050405020304" charset="0"/>
              </a:rPr>
              <a:t>At each time t, any missing factor value for a stock is replaced with the cross-sectional median of that factor at time t, preventing gaps that could bias estimation.</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200" b="1" dirty="0">
                <a:latin typeface="Times New Roman" panose="02020603050405020304" charset="0"/>
                <a:ea typeface="Arial" panose="020B0604020202020204"/>
                <a:cs typeface="Times New Roman" panose="02020603050405020304" charset="0"/>
              </a:rPr>
              <a:t>2. Cross-Sectional Standardization</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200" dirty="0">
                <a:latin typeface="Times New Roman" panose="02020603050405020304" charset="0"/>
                <a:ea typeface="Arial" panose="020B0604020202020204"/>
                <a:cs typeface="Times New Roman" panose="02020603050405020304" charset="0"/>
              </a:rPr>
              <a:t>Each factor is standardized within each period, ensuring comparability across time and preventing scale differences from disproportionately influencing model coefficients or neural network learning.</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200" b="1" dirty="0">
                <a:latin typeface="Times New Roman" panose="02020603050405020304" charset="0"/>
                <a:ea typeface="Arial" panose="020B0604020202020204"/>
                <a:cs typeface="Times New Roman" panose="02020603050405020304" charset="0"/>
              </a:rPr>
              <a:t>3.Removal of Invalid Numerical Values</a:t>
            </a:r>
            <a:endParaRPr lang="en-US" altLang="zh-CN" sz="1200" b="1"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200" dirty="0">
                <a:latin typeface="Times New Roman" panose="02020603050405020304" charset="0"/>
                <a:ea typeface="Arial" panose="020B0604020202020204"/>
                <a:cs typeface="Times New Roman" panose="02020603050405020304" charset="0"/>
              </a:rPr>
              <a:t>Any remaining infinite or negative infinite values—typically arising from factor construction issues such as division by zero—are removed to maintain the integrity of the input data.</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200" dirty="0">
                <a:latin typeface="Times New Roman" panose="02020603050405020304" charset="0"/>
                <a:ea typeface="Arial" panose="020B0604020202020204"/>
                <a:cs typeface="Times New Roman" panose="02020603050405020304" charset="0"/>
              </a:rPr>
              <a:t>Together, these steps produce a clean, consistent factor panel suitable for both linear OLS regressions and nonlinear MLP-based prediction models.</a:t>
            </a:r>
            <a:endParaRPr lang="en-US" altLang="zh-CN" sz="1200" dirty="0">
              <a:latin typeface="Times New Roman" panose="02020603050405020304" charset="0"/>
              <a:ea typeface="Arial" panose="020B0604020202020204"/>
              <a:cs typeface="Times New Roman" panose="02020603050405020304" charset="0"/>
            </a:endParaRPr>
          </a:p>
        </p:txBody>
      </p:sp>
      <p:sp>
        <p:nvSpPr>
          <p:cNvPr id="24"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Data Source and Processing</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2</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Data Source and Data Reprocessing</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299720" cy="11430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10</a:t>
            </a:r>
            <a:endParaRPr sz="700" dirty="0">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4"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Training Setup</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2</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Data Source and Data Reprocessing</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11</a:t>
            </a:r>
            <a:endParaRPr sz="700" dirty="0">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
        <p:nvSpPr>
          <p:cNvPr id="7" name="文本框 6"/>
          <p:cNvSpPr txBox="1"/>
          <p:nvPr/>
        </p:nvSpPr>
        <p:spPr>
          <a:xfrm>
            <a:off x="601345" y="803275"/>
            <a:ext cx="5848985" cy="829945"/>
          </a:xfrm>
          <a:prstGeom prst="rect">
            <a:avLst/>
          </a:prstGeom>
          <a:noFill/>
        </p:spPr>
        <p:txBody>
          <a:bodyPr wrap="square" rtlCol="0">
            <a:spAutoFit/>
          </a:bodyPr>
          <a:p>
            <a:r>
              <a:rPr lang="en-US" altLang="zh-CN" sz="1200" b="1">
                <a:latin typeface="Times New Roman" panose="02020603050405020304" charset="0"/>
                <a:cs typeface="Times New Roman" panose="02020603050405020304" charset="0"/>
              </a:rPr>
              <a:t>Data split (2:6:2)</a:t>
            </a:r>
            <a:r>
              <a:rPr lang="en-US" altLang="zh-CN" sz="1200">
                <a:latin typeface="Times New Roman" panose="02020603050405020304" charset="0"/>
                <a:cs typeface="Times New Roman" panose="02020603050405020304" charset="0"/>
              </a:rPr>
              <a:t>:</a:t>
            </a:r>
            <a:endParaRPr lang="en-US" altLang="zh-CN" sz="1200">
              <a:latin typeface="Times New Roman" panose="02020603050405020304" charset="0"/>
              <a:cs typeface="Times New Roman" panose="02020603050405020304" charset="0"/>
            </a:endParaRPr>
          </a:p>
          <a:p>
            <a:pPr marL="171450" indent="-171450">
              <a:buFont typeface="Arial" panose="020B0604020202020204" pitchFamily="34" charset="0"/>
              <a:buChar char="•"/>
            </a:pPr>
            <a:r>
              <a:rPr lang="en-US" altLang="zh-CN" sz="1200">
                <a:latin typeface="Times New Roman" panose="02020603050405020304" charset="0"/>
                <a:cs typeface="Times New Roman" panose="02020603050405020304" charset="0"/>
              </a:rPr>
              <a:t>Pre-sample (2014–2015): tuning</a:t>
            </a:r>
            <a:endParaRPr lang="en-US" altLang="zh-CN" sz="1200">
              <a:latin typeface="Times New Roman" panose="02020603050405020304" charset="0"/>
              <a:cs typeface="Times New Roman" panose="02020603050405020304" charset="0"/>
            </a:endParaRPr>
          </a:p>
          <a:p>
            <a:pPr marL="171450" indent="-171450">
              <a:buFont typeface="Arial" panose="020B0604020202020204" pitchFamily="34" charset="0"/>
              <a:buChar char="•"/>
            </a:pPr>
            <a:r>
              <a:rPr lang="en-US" altLang="zh-CN" sz="1200">
                <a:latin typeface="Times New Roman" panose="02020603050405020304" charset="0"/>
                <a:cs typeface="Times New Roman" panose="02020603050405020304" charset="0"/>
              </a:rPr>
              <a:t>In-sample (2016–2021): training</a:t>
            </a:r>
            <a:endParaRPr lang="en-US" altLang="zh-CN" sz="1200">
              <a:latin typeface="Times New Roman" panose="02020603050405020304" charset="0"/>
              <a:cs typeface="Times New Roman" panose="02020603050405020304" charset="0"/>
            </a:endParaRPr>
          </a:p>
          <a:p>
            <a:pPr marL="171450" indent="-171450">
              <a:buFont typeface="Arial" panose="020B0604020202020204" pitchFamily="34" charset="0"/>
              <a:buChar char="•"/>
            </a:pPr>
            <a:r>
              <a:rPr lang="en-US" altLang="zh-CN" sz="1200">
                <a:latin typeface="Times New Roman" panose="02020603050405020304" charset="0"/>
                <a:cs typeface="Times New Roman" panose="02020603050405020304" charset="0"/>
              </a:rPr>
              <a:t>Post-sample (2022–2023): OOS evaluation</a:t>
            </a:r>
            <a:endParaRPr lang="en-US" altLang="zh-CN" sz="1200">
              <a:latin typeface="Times New Roman" panose="02020603050405020304" charset="0"/>
              <a:cs typeface="Times New Roman" panose="02020603050405020304" charset="0"/>
            </a:endParaRPr>
          </a:p>
        </p:txBody>
      </p:sp>
      <p:sp>
        <p:nvSpPr>
          <p:cNvPr id="8" name="文本框 7"/>
          <p:cNvSpPr txBox="1"/>
          <p:nvPr/>
        </p:nvSpPr>
        <p:spPr>
          <a:xfrm>
            <a:off x="601345" y="1772920"/>
            <a:ext cx="6241415" cy="1568450"/>
          </a:xfrm>
          <a:prstGeom prst="rect">
            <a:avLst/>
          </a:prstGeom>
          <a:noFill/>
        </p:spPr>
        <p:txBody>
          <a:bodyPr wrap="square" rtlCol="0">
            <a:spAutoFit/>
          </a:bodyPr>
          <a:p>
            <a:r>
              <a:rPr lang="en-US" altLang="zh-CN" sz="1200" b="1">
                <a:latin typeface="Times New Roman" panose="02020603050405020304" charset="0"/>
                <a:cs typeface="Times New Roman" panose="02020603050405020304" charset="0"/>
              </a:rPr>
              <a:t>Key hyperparameters:</a:t>
            </a:r>
            <a:endParaRPr lang="en-US" altLang="zh-CN" sz="1200" b="1">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 Optimizer: Adam optimizer with a fixed learning rate of 0.001.</a:t>
            </a:r>
            <a:endParaRPr lang="en-US" altLang="zh-CN" sz="1200">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 Batch Size: 32 for stochastic gradient descent.</a:t>
            </a:r>
            <a:endParaRPr lang="en-US" altLang="zh-CN" sz="1200">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 Activation Function: Rectified Linear Unit (ReLU) in all hidden layers.</a:t>
            </a:r>
            <a:endParaRPr lang="en-US" altLang="zh-CN" sz="1200">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 Regularization: L2 weight regularization with an alpha parameter of 0.0001 is applied to prevent overfitting.</a:t>
            </a:r>
            <a:endParaRPr lang="en-US" altLang="zh-CN" sz="1200">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 Early Stopping: Training is monitored on a 10% validation split created from the in-sample data;</a:t>
            </a:r>
            <a:endParaRPr lang="en-US" altLang="zh-CN" sz="1200">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training halts if validation loss does not improve for 10 consecutive epochs.</a:t>
            </a:r>
            <a:endParaRPr lang="en-US" altLang="zh-CN" sz="12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4"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Evaluation Metrics</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2</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Data Source and Data Reprocessing</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12</a:t>
            </a:r>
            <a:endParaRPr sz="700" dirty="0">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
        <p:nvSpPr>
          <p:cNvPr id="7" name="文本框 6"/>
          <p:cNvSpPr txBox="1"/>
          <p:nvPr/>
        </p:nvSpPr>
        <p:spPr>
          <a:xfrm>
            <a:off x="601345" y="993140"/>
            <a:ext cx="5848985" cy="1383665"/>
          </a:xfrm>
          <a:prstGeom prst="rect">
            <a:avLst/>
          </a:prstGeom>
          <a:noFill/>
        </p:spPr>
        <p:txBody>
          <a:bodyPr wrap="square" rtlCol="0">
            <a:spAutoFit/>
          </a:bodyPr>
          <a:p>
            <a:pPr marL="171450" indent="-171450">
              <a:buFont typeface="Arial" panose="020B0604020202020204" pitchFamily="34" charset="0"/>
              <a:buChar char="•"/>
            </a:pPr>
            <a:r>
              <a:rPr lang="en-US" altLang="zh-CN" sz="1200">
                <a:latin typeface="Times New Roman" panose="02020603050405020304" charset="0"/>
                <a:cs typeface="Times New Roman" panose="02020603050405020304" charset="0"/>
              </a:rPr>
              <a:t>IC Mean — accuracy in ranking</a:t>
            </a:r>
            <a:endParaRPr lang="en-US" altLang="zh-CN" sz="1200">
              <a:latin typeface="Times New Roman" panose="02020603050405020304" charset="0"/>
              <a:cs typeface="Times New Roman" panose="02020603050405020304" charset="0"/>
            </a:endParaRPr>
          </a:p>
          <a:p>
            <a:pPr marL="171450" indent="-171450">
              <a:buFont typeface="Arial" panose="020B0604020202020204" pitchFamily="34" charset="0"/>
              <a:buChar char="•"/>
            </a:pPr>
            <a:endParaRPr lang="en-US" altLang="zh-CN" sz="1200">
              <a:latin typeface="Times New Roman" panose="02020603050405020304" charset="0"/>
              <a:cs typeface="Times New Roman" panose="02020603050405020304" charset="0"/>
            </a:endParaRPr>
          </a:p>
          <a:p>
            <a:pPr marL="171450" indent="-171450">
              <a:buFont typeface="Arial" panose="020B0604020202020204" pitchFamily="34" charset="0"/>
              <a:buChar char="•"/>
            </a:pPr>
            <a:r>
              <a:rPr lang="en-US" altLang="zh-CN" sz="1200">
                <a:latin typeface="Times New Roman" panose="02020603050405020304" charset="0"/>
                <a:cs typeface="Times New Roman" panose="02020603050405020304" charset="0"/>
              </a:rPr>
              <a:t>IC Std — stability of the predictive signal</a:t>
            </a:r>
            <a:endParaRPr lang="en-US" altLang="zh-CN" sz="1200">
              <a:latin typeface="Times New Roman" panose="02020603050405020304" charset="0"/>
              <a:cs typeface="Times New Roman" panose="02020603050405020304" charset="0"/>
            </a:endParaRPr>
          </a:p>
          <a:p>
            <a:pPr marL="171450" indent="-171450">
              <a:buFont typeface="Arial" panose="020B0604020202020204" pitchFamily="34" charset="0"/>
              <a:buChar char="•"/>
            </a:pPr>
            <a:endParaRPr lang="en-US" altLang="zh-CN" sz="1200">
              <a:latin typeface="Times New Roman" panose="02020603050405020304" charset="0"/>
              <a:cs typeface="Times New Roman" panose="02020603050405020304" charset="0"/>
            </a:endParaRPr>
          </a:p>
          <a:p>
            <a:pPr marL="171450" indent="-171450">
              <a:buFont typeface="Arial" panose="020B0604020202020204" pitchFamily="34" charset="0"/>
              <a:buChar char="•"/>
            </a:pPr>
            <a:r>
              <a:rPr lang="en-US" altLang="zh-CN" sz="1200">
                <a:latin typeface="Times New Roman" panose="02020603050405020304" charset="0"/>
                <a:cs typeface="Times New Roman" panose="02020603050405020304" charset="0"/>
              </a:rPr>
              <a:t>ICIR (IC Mean / Std) — risk-adjusted performance</a:t>
            </a:r>
            <a:endParaRPr lang="en-US" altLang="zh-CN" sz="1200">
              <a:latin typeface="Times New Roman" panose="02020603050405020304" charset="0"/>
              <a:cs typeface="Times New Roman" panose="02020603050405020304" charset="0"/>
            </a:endParaRPr>
          </a:p>
          <a:p>
            <a:endParaRPr lang="en-US" altLang="zh-CN" sz="1200">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Metrics evaluated in pre-sample, in-sample, and post-sample</a:t>
            </a:r>
            <a:endParaRPr lang="en-US" altLang="zh-CN" sz="120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 8"/>
          <p:cNvSpPr/>
          <p:nvPr/>
        </p:nvSpPr>
        <p:spPr>
          <a:xfrm>
            <a:off x="0" y="0"/>
            <a:ext cx="7199998" cy="3959999"/>
          </a:xfrm>
          <a:prstGeom prst="rect">
            <a:avLst/>
          </a:prstGeom>
          <a:solidFill>
            <a:srgbClr val="72256D">
              <a:alpha val="100000"/>
            </a:srgbClr>
          </a:solidFill>
          <a:ln w="0" cap="flat">
            <a:noFill/>
            <a:prstDash val="solid"/>
            <a:miter lim="0"/>
          </a:ln>
        </p:spPr>
        <p:txBody>
          <a:bodyPr rtlCol="0"/>
          <a:lstStyle/>
          <a:p>
            <a:pPr algn="ctr"/>
            <a:endParaRPr lang="zh-CN" altLang="en-US"/>
          </a:p>
        </p:txBody>
      </p:sp>
      <p:sp>
        <p:nvSpPr>
          <p:cNvPr id="10" name="textbox 10"/>
          <p:cNvSpPr/>
          <p:nvPr/>
        </p:nvSpPr>
        <p:spPr>
          <a:xfrm>
            <a:off x="360045" y="925195"/>
            <a:ext cx="3607435" cy="2382520"/>
          </a:xfrm>
          <a:prstGeom prst="rect">
            <a:avLst/>
          </a:prstGeom>
          <a:noFill/>
          <a:ln w="0" cap="flat">
            <a:noFill/>
            <a:prstDash val="solid"/>
            <a:miter lim="0"/>
          </a:ln>
        </p:spPr>
        <p:txBody>
          <a:bodyPr vert="horz" wrap="square" lIns="0" tIns="0" rIns="0" bIns="0"/>
          <a:lstStyle/>
          <a:p>
            <a:pPr algn="l" rtl="0" eaLnBrk="0">
              <a:lnSpc>
                <a:spcPct val="82000"/>
              </a:lnSpc>
            </a:pPr>
            <a:endParaRPr sz="100" kern="100" dirty="0">
              <a:latin typeface="Times New Roman" panose="02020603050405020304" charset="0"/>
              <a:ea typeface="Arial" panose="020B0604020202020204"/>
              <a:cs typeface="Times New Roman" panose="02020603050405020304" charset="0"/>
            </a:endParaRPr>
          </a:p>
          <a:p>
            <a:pPr marL="12700" algn="l" rtl="0" eaLnBrk="0">
              <a:lnSpc>
                <a:spcPct val="97000"/>
              </a:lnSpc>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altLang="zh-CN"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rPr>
              <a:t>Introduction and Background</a:t>
            </a:r>
            <a:endParaRPr lang="en-US" altLang="zh-CN"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97000"/>
              </a:lnSpc>
            </a:pPr>
            <a:endParaRPr sz="1000" kern="100" dirty="0">
              <a:latin typeface="Times New Roman" panose="02020603050405020304" charset="0"/>
              <a:ea typeface="Arial" panose="020B0604020202020204"/>
              <a:cs typeface="Times New Roman" panose="02020603050405020304" charset="0"/>
            </a:endParaRPr>
          </a:p>
          <a:p>
            <a:pPr algn="l" rtl="0" eaLnBrk="0">
              <a:lnSpc>
                <a:spcPct val="124000"/>
              </a:lnSpc>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Data Source and Data Reprocessing</a:t>
            </a:r>
            <a:endParaRPr sz="1000" kern="100" dirty="0">
              <a:latin typeface="Times New Roman" panose="02020603050405020304" charset="0"/>
              <a:ea typeface="Arial" panose="020B0604020202020204"/>
              <a:cs typeface="Times New Roman" panose="02020603050405020304" charset="0"/>
            </a:endParaRPr>
          </a:p>
          <a:p>
            <a:pPr algn="l" rtl="0" eaLnBrk="0">
              <a:lnSpc>
                <a:spcPct val="124000"/>
              </a:lnSpc>
            </a:pP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2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sym typeface="+mn-ea"/>
              </a:rPr>
              <a:t>Base Hypothesis Testing</a:t>
            </a:r>
            <a:endParaRPr lang="en-US" sz="10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endParaRPr>
          </a:p>
          <a:p>
            <a:pPr algn="l" rtl="0" eaLnBrk="0">
              <a:lnSpc>
                <a:spcPct val="124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Two-stage Model</a:t>
            </a: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rPr>
              <a:t>▶ </a:t>
            </a:r>
            <a:r>
              <a:rPr lang="en-US" altLang="zh-CN"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rPr>
              <a:t>Mechanism Test: Interpreting the Model’s Incremental Alpha</a:t>
            </a: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Conclusion</a:t>
            </a:r>
            <a:endParaRPr sz="1000" kern="100" dirty="0">
              <a:latin typeface="Times New Roman" panose="02020603050405020304" charset="0"/>
              <a:ea typeface="Arial" panose="020B0604020202020204"/>
              <a:cs typeface="Times New Roman" panose="02020603050405020304" charset="0"/>
            </a:endParaRPr>
          </a:p>
          <a:p>
            <a:pPr algn="l" rtl="0" eaLnBrk="0">
              <a:lnSpc>
                <a:spcPct val="125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Q&amp;A</a:t>
            </a: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p:txBody>
      </p:sp>
      <p:sp>
        <p:nvSpPr>
          <p:cNvPr id="12" name="textbox 12"/>
          <p:cNvSpPr/>
          <p:nvPr/>
        </p:nvSpPr>
        <p:spPr>
          <a:xfrm>
            <a:off x="966764" y="273083"/>
            <a:ext cx="1807845" cy="3175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4000"/>
              </a:lnSpc>
            </a:pP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Table</a:t>
            </a:r>
            <a:r>
              <a:rPr sz="1400" b="1" kern="0" spc="210" dirty="0">
                <a:solidFill>
                  <a:srgbClr val="FFFFFF">
                    <a:alpha val="100000"/>
                  </a:srgbClr>
                </a:solidFill>
                <a:latin typeface="Times New Roman" panose="02020603050405020304" charset="0"/>
                <a:ea typeface="Arial" panose="020B0604020202020204"/>
                <a:cs typeface="Times New Roman" panose="02020603050405020304" charset="0"/>
              </a:rPr>
              <a:t> </a:t>
            </a: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of</a:t>
            </a:r>
            <a:r>
              <a:rPr sz="1400" b="1" kern="0" spc="130" dirty="0">
                <a:solidFill>
                  <a:srgbClr val="FFFFFF">
                    <a:alpha val="100000"/>
                  </a:srgbClr>
                </a:solidFill>
                <a:latin typeface="Times New Roman" panose="02020603050405020304" charset="0"/>
                <a:ea typeface="Arial" panose="020B0604020202020204"/>
                <a:cs typeface="Times New Roman" panose="02020603050405020304" charset="0"/>
              </a:rPr>
              <a:t> </a:t>
            </a: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Contents</a:t>
            </a:r>
            <a:endParaRPr sz="1400" dirty="0">
              <a:latin typeface="Times New Roman" panose="02020603050405020304" charset="0"/>
              <a:ea typeface="Arial" panose="020B0604020202020204"/>
              <a:cs typeface="Times New Roman" panose="02020603050405020304" charset="0"/>
            </a:endParaRPr>
          </a:p>
          <a:p>
            <a:pPr marL="15240" algn="l" rtl="0" eaLnBrk="0">
              <a:lnSpc>
                <a:spcPct val="87000"/>
              </a:lnSpc>
              <a:spcBef>
                <a:spcPts val="220"/>
              </a:spcBef>
            </a:pPr>
            <a:r>
              <a:rPr lang="en-US"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rPr>
              <a:t>3</a:t>
            </a:r>
            <a:r>
              <a:rPr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rPr>
              <a:t>  </a:t>
            </a:r>
            <a:r>
              <a:rPr lang="en-US" sz="8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sym typeface="+mn-ea"/>
              </a:rPr>
              <a:t>Base Hypothesis Testing</a:t>
            </a:r>
            <a:endParaRPr lang="en-US"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endParaRPr>
          </a:p>
        </p:txBody>
      </p:sp>
      <p:pic>
        <p:nvPicPr>
          <p:cNvPr id="14" name="picture 14"/>
          <p:cNvPicPr>
            <a:picLocks noChangeAspect="1"/>
          </p:cNvPicPr>
          <p:nvPr/>
        </p:nvPicPr>
        <p:blipFill>
          <a:blip r:embed="rId1"/>
          <a:stretch>
            <a:fillRect/>
          </a:stretch>
        </p:blipFill>
        <p:spPr>
          <a:xfrm rot="21600000">
            <a:off x="360019" y="1"/>
            <a:ext cx="504052" cy="599997"/>
          </a:xfrm>
          <a:prstGeom prst="rect">
            <a:avLst/>
          </a:prstGeom>
        </p:spPr>
      </p:pic>
      <p:sp>
        <p:nvSpPr>
          <p:cNvPr id="16" name="textbox 16"/>
          <p:cNvSpPr/>
          <p:nvPr/>
        </p:nvSpPr>
        <p:spPr>
          <a:xfrm>
            <a:off x="352658" y="3763384"/>
            <a:ext cx="235584" cy="12700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13</a:t>
            </a:r>
            <a:endParaRPr lang="en-US" sz="700" kern="0" spc="60" dirty="0">
              <a:solidFill>
                <a:srgbClr val="FFFFFF">
                  <a:alpha val="100000"/>
                </a:srgbClr>
              </a:solidFill>
              <a:latin typeface="Arial" panose="020B0604020202020204"/>
              <a:ea typeface="Arial" panose="020B0604020202020204"/>
              <a:cs typeface="Arial" panose="020B0604020202020204"/>
            </a:endParaRPr>
          </a:p>
        </p:txBody>
      </p:sp>
      <p:pic>
        <p:nvPicPr>
          <p:cNvPr id="5" name="图片 4"/>
          <p:cNvPicPr>
            <a:picLocks noChangeAspect="1"/>
          </p:cNvPicPr>
          <p:nvPr/>
        </p:nvPicPr>
        <p:blipFill>
          <a:blip r:embed="rId2"/>
          <a:stretch>
            <a:fillRect/>
          </a:stretch>
        </p:blipFill>
        <p:spPr>
          <a:xfrm>
            <a:off x="360045" y="635"/>
            <a:ext cx="505460" cy="5994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2" name="textbox 22"/>
          <p:cNvSpPr/>
          <p:nvPr/>
        </p:nvSpPr>
        <p:spPr>
          <a:xfrm>
            <a:off x="360045" y="782955"/>
            <a:ext cx="6357620" cy="327660"/>
          </a:xfrm>
          <a:prstGeom prst="rect">
            <a:avLst/>
          </a:prstGeom>
          <a:noFill/>
          <a:ln w="0" cap="flat">
            <a:noFill/>
            <a:prstDash val="solid"/>
            <a:miter lim="0"/>
          </a:ln>
        </p:spPr>
        <p:txBody>
          <a:bodyPr vert="horz" wrap="square" lIns="0" tIns="545" rIns="0" bIns="0"/>
          <a:lstStyle/>
          <a:p>
            <a:pPr marL="12700" indent="635" algn="l" rtl="0" eaLnBrk="0">
              <a:lnSpc>
                <a:spcPct val="103000"/>
              </a:lnSpc>
              <a:spcBef>
                <a:spcPts val="5"/>
              </a:spcBef>
            </a:pPr>
            <a:r>
              <a:rPr lang="en-US" altLang="zh-CN" sz="1200" b="1" i="1" dirty="0">
                <a:latin typeface="Times New Roman" panose="02020603050405020304" charset="0"/>
                <a:ea typeface="Arial" panose="020B0604020202020204"/>
                <a:cs typeface="Times New Roman" panose="02020603050405020304" charset="0"/>
              </a:rPr>
              <a:t>H1</a:t>
            </a:r>
            <a:r>
              <a:rPr lang="en-US" altLang="zh-CN" sz="1200" i="1" dirty="0">
                <a:latin typeface="Times New Roman" panose="02020603050405020304" charset="0"/>
                <a:ea typeface="Arial" panose="020B0604020202020204"/>
                <a:cs typeface="Times New Roman" panose="02020603050405020304" charset="0"/>
              </a:rPr>
              <a:t>: Contemporaneous fundamental factors exhibit significantly stronger linear correlation with contemporaneous excess returns than lagged fundamental factors.</a:t>
            </a:r>
            <a:endParaRPr lang="en-US" altLang="zh-CN" sz="1200" i="1" dirty="0">
              <a:latin typeface="Times New Roman" panose="02020603050405020304" charset="0"/>
              <a:ea typeface="Arial" panose="020B0604020202020204"/>
              <a:cs typeface="Times New Roman" panose="02020603050405020304" charset="0"/>
            </a:endParaRPr>
          </a:p>
        </p:txBody>
      </p:sp>
      <p:sp>
        <p:nvSpPr>
          <p:cNvPr id="24"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Methodology: Do Non-lagged Fundamentals Really Perform Better ?</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3</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Base Hypothesis Testing</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r>
              <a:rPr lang="en-US" sz="100" dirty="0">
                <a:latin typeface="Arial" panose="020B0604020202020204"/>
                <a:ea typeface="Arial" panose="020B0604020202020204"/>
                <a:cs typeface="Arial" panose="020B0604020202020204"/>
              </a:rPr>
              <a:t>4</a:t>
            </a: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14</a:t>
            </a:r>
            <a:endParaRPr sz="700" dirty="0">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pic>
        <p:nvPicPr>
          <p:cNvPr id="2" name="图片 1"/>
          <p:cNvPicPr>
            <a:picLocks noChangeAspect="1"/>
          </p:cNvPicPr>
          <p:nvPr/>
        </p:nvPicPr>
        <p:blipFill>
          <a:blip r:embed="rId3"/>
          <a:stretch>
            <a:fillRect/>
          </a:stretch>
        </p:blipFill>
        <p:spPr>
          <a:xfrm>
            <a:off x="619760" y="1247140"/>
            <a:ext cx="5684520" cy="1860550"/>
          </a:xfrm>
          <a:prstGeom prst="rect">
            <a:avLst/>
          </a:prstGeom>
        </p:spPr>
      </p:pic>
      <p:sp>
        <p:nvSpPr>
          <p:cNvPr id="6" name="textbox 22"/>
          <p:cNvSpPr/>
          <p:nvPr/>
        </p:nvSpPr>
        <p:spPr>
          <a:xfrm>
            <a:off x="421005" y="3121025"/>
            <a:ext cx="6357620" cy="327660"/>
          </a:xfrm>
          <a:prstGeom prst="rect">
            <a:avLst/>
          </a:prstGeom>
          <a:noFill/>
          <a:ln w="0" cap="flat">
            <a:noFill/>
            <a:prstDash val="solid"/>
            <a:miter lim="0"/>
          </a:ln>
        </p:spPr>
        <p:txBody>
          <a:bodyPr vert="horz" wrap="square" lIns="0" tIns="545" rIns="0" bIns="0"/>
          <a:lstStyle/>
          <a:p>
            <a:pPr marL="12700" indent="635" algn="l" rtl="0" eaLnBrk="0">
              <a:lnSpc>
                <a:spcPct val="103000"/>
              </a:lnSpc>
              <a:spcBef>
                <a:spcPts val="5"/>
              </a:spcBef>
            </a:pPr>
            <a:r>
              <a:rPr lang="en-US" altLang="zh-CN" sz="1200" dirty="0">
                <a:latin typeface="Times New Roman" panose="02020603050405020304" charset="0"/>
                <a:ea typeface="Arial" panose="020B0604020202020204"/>
                <a:cs typeface="Times New Roman" panose="02020603050405020304" charset="0"/>
              </a:rPr>
              <a:t>We test the H1 by comparing the in-sample R-squared, post-sample IC mean, post-sample</a:t>
            </a:r>
            <a:endParaRPr lang="en-US" altLang="zh-CN" sz="1200" dirty="0">
              <a:latin typeface="Times New Roman" panose="02020603050405020304" charset="0"/>
              <a:ea typeface="Arial" panose="020B0604020202020204"/>
              <a:cs typeface="Times New Roman" panose="02020603050405020304" charset="0"/>
            </a:endParaRPr>
          </a:p>
          <a:p>
            <a:pPr marL="12700" indent="635" algn="l" rtl="0" eaLnBrk="0">
              <a:lnSpc>
                <a:spcPct val="103000"/>
              </a:lnSpc>
              <a:spcBef>
                <a:spcPts val="5"/>
              </a:spcBef>
            </a:pPr>
            <a:r>
              <a:rPr lang="en-US" altLang="zh-CN" sz="1200" dirty="0">
                <a:latin typeface="Times New Roman" panose="02020603050405020304" charset="0"/>
                <a:ea typeface="Arial" panose="020B0604020202020204"/>
                <a:cs typeface="Times New Roman" panose="02020603050405020304" charset="0"/>
              </a:rPr>
              <a:t>ICIR and the statistical significance of size, value, profitability, and investment factors.</a:t>
            </a:r>
            <a:endParaRPr lang="en-US" altLang="zh-CN" sz="1200" dirty="0">
              <a:latin typeface="Times New Roman" panose="02020603050405020304" charset="0"/>
              <a:ea typeface="Arial" panose="020B0604020202020204"/>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4"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Empirical Results——Feasibility of Fundamental Prediction: </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Non-lagged Fundamentals Perform Better Explain Power</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3</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Base Hypothesis Testing</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15</a:t>
            </a:r>
            <a:endParaRPr sz="700" dirty="0">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pic>
        <p:nvPicPr>
          <p:cNvPr id="2" name="图片 1"/>
          <p:cNvPicPr>
            <a:picLocks noChangeAspect="1"/>
          </p:cNvPicPr>
          <p:nvPr/>
        </p:nvPicPr>
        <p:blipFill>
          <a:blip r:embed="rId3"/>
          <a:stretch>
            <a:fillRect/>
          </a:stretch>
        </p:blipFill>
        <p:spPr>
          <a:xfrm>
            <a:off x="1536700" y="731520"/>
            <a:ext cx="4126230" cy="29108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4"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sym typeface="+mn-ea"/>
              </a:rPr>
              <a:t>Empirical Results——</a:t>
            </a: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Feasibility of Fundamental Prediction: </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Non-lagged Fundamentals Perform Better Explain Power</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3</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Base Hypothesis Testing</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16</a:t>
            </a:r>
            <a:endParaRPr sz="700" dirty="0">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pic>
        <p:nvPicPr>
          <p:cNvPr id="4" name="图片 3" descr="step1_modelA_ic"/>
          <p:cNvPicPr>
            <a:picLocks noChangeAspect="1"/>
          </p:cNvPicPr>
          <p:nvPr/>
        </p:nvPicPr>
        <p:blipFill>
          <a:blip r:embed="rId3"/>
          <a:stretch>
            <a:fillRect/>
          </a:stretch>
        </p:blipFill>
        <p:spPr>
          <a:xfrm>
            <a:off x="288290" y="942975"/>
            <a:ext cx="3129915" cy="2073910"/>
          </a:xfrm>
          <a:prstGeom prst="rect">
            <a:avLst/>
          </a:prstGeom>
        </p:spPr>
      </p:pic>
      <p:pic>
        <p:nvPicPr>
          <p:cNvPr id="5" name="图片 4" descr="step1_modelB_ic"/>
          <p:cNvPicPr>
            <a:picLocks noChangeAspect="1"/>
          </p:cNvPicPr>
          <p:nvPr/>
        </p:nvPicPr>
        <p:blipFill>
          <a:blip r:embed="rId4"/>
          <a:stretch>
            <a:fillRect/>
          </a:stretch>
        </p:blipFill>
        <p:spPr>
          <a:xfrm>
            <a:off x="3663315" y="942975"/>
            <a:ext cx="3129915" cy="2073910"/>
          </a:xfrm>
          <a:prstGeom prst="rect">
            <a:avLst/>
          </a:prstGeom>
        </p:spPr>
      </p:pic>
      <p:sp>
        <p:nvSpPr>
          <p:cNvPr id="6" name="文本框 5"/>
          <p:cNvSpPr txBox="1"/>
          <p:nvPr/>
        </p:nvSpPr>
        <p:spPr>
          <a:xfrm>
            <a:off x="351790" y="3074670"/>
            <a:ext cx="3226435" cy="213995"/>
          </a:xfrm>
          <a:prstGeom prst="rect">
            <a:avLst/>
          </a:prstGeom>
          <a:noFill/>
        </p:spPr>
        <p:txBody>
          <a:bodyPr wrap="square" rtlCol="0" anchor="t">
            <a:spAutoFit/>
          </a:bodyPr>
          <a:p>
            <a:r>
              <a:rPr lang="en-US" altLang="zh-CN" sz="800">
                <a:latin typeface="Times New Roman" panose="02020603050405020304" charset="0"/>
                <a:cs typeface="Times New Roman" panose="02020603050405020304" charset="0"/>
              </a:rPr>
              <a:t>Figure 1: Continuous Cumulative IC Curve for Model A (Lagged Model)</a:t>
            </a:r>
            <a:endParaRPr lang="zh-CN" altLang="en-US" sz="800">
              <a:latin typeface="Times New Roman" panose="02020603050405020304" charset="0"/>
              <a:cs typeface="Times New Roman" panose="02020603050405020304" charset="0"/>
            </a:endParaRPr>
          </a:p>
        </p:txBody>
      </p:sp>
      <p:sp>
        <p:nvSpPr>
          <p:cNvPr id="7" name="文本框 6"/>
          <p:cNvSpPr txBox="1"/>
          <p:nvPr/>
        </p:nvSpPr>
        <p:spPr>
          <a:xfrm>
            <a:off x="3615055" y="3074670"/>
            <a:ext cx="3583940" cy="213995"/>
          </a:xfrm>
          <a:prstGeom prst="rect">
            <a:avLst/>
          </a:prstGeom>
          <a:noFill/>
        </p:spPr>
        <p:txBody>
          <a:bodyPr wrap="square" rtlCol="0" anchor="t">
            <a:spAutoFit/>
          </a:bodyPr>
          <a:p>
            <a:r>
              <a:rPr lang="en-US" altLang="zh-CN" sz="800">
                <a:latin typeface="Times New Roman" panose="02020603050405020304" charset="0"/>
                <a:cs typeface="Times New Roman" panose="02020603050405020304" charset="0"/>
              </a:rPr>
              <a:t>Figure 2: Continuous Cumulative IC Curve for Model B (Contemporaneous Model)</a:t>
            </a:r>
            <a:endParaRPr lang="en-US" altLang="zh-CN" sz="800">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 8"/>
          <p:cNvSpPr/>
          <p:nvPr/>
        </p:nvSpPr>
        <p:spPr>
          <a:xfrm>
            <a:off x="0" y="0"/>
            <a:ext cx="7199998" cy="3959999"/>
          </a:xfrm>
          <a:prstGeom prst="rect">
            <a:avLst/>
          </a:prstGeom>
          <a:solidFill>
            <a:srgbClr val="72256D">
              <a:alpha val="100000"/>
            </a:srgbClr>
          </a:solidFill>
          <a:ln w="0" cap="flat">
            <a:noFill/>
            <a:prstDash val="solid"/>
            <a:miter lim="0"/>
          </a:ln>
        </p:spPr>
        <p:txBody>
          <a:bodyPr rtlCol="0"/>
          <a:lstStyle/>
          <a:p>
            <a:pPr algn="ctr"/>
            <a:endParaRPr lang="zh-CN" altLang="en-US"/>
          </a:p>
        </p:txBody>
      </p:sp>
      <p:sp>
        <p:nvSpPr>
          <p:cNvPr id="10" name="textbox 10"/>
          <p:cNvSpPr/>
          <p:nvPr/>
        </p:nvSpPr>
        <p:spPr>
          <a:xfrm>
            <a:off x="360045" y="925195"/>
            <a:ext cx="3607435" cy="2382520"/>
          </a:xfrm>
          <a:prstGeom prst="rect">
            <a:avLst/>
          </a:prstGeom>
          <a:noFill/>
          <a:ln w="0" cap="flat">
            <a:noFill/>
            <a:prstDash val="solid"/>
            <a:miter lim="0"/>
          </a:ln>
        </p:spPr>
        <p:txBody>
          <a:bodyPr vert="horz" wrap="square" lIns="0" tIns="0" rIns="0" bIns="0"/>
          <a:lstStyle/>
          <a:p>
            <a:pPr algn="l" rtl="0" eaLnBrk="0">
              <a:lnSpc>
                <a:spcPct val="82000"/>
              </a:lnSpc>
            </a:pPr>
            <a:endParaRPr sz="100" kern="100" dirty="0">
              <a:latin typeface="Times New Roman" panose="02020603050405020304" charset="0"/>
              <a:ea typeface="Arial" panose="020B0604020202020204"/>
              <a:cs typeface="Times New Roman" panose="02020603050405020304" charset="0"/>
            </a:endParaRPr>
          </a:p>
          <a:p>
            <a:pPr marL="12700" algn="l" rtl="0" eaLnBrk="0">
              <a:lnSpc>
                <a:spcPct val="97000"/>
              </a:lnSpc>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altLang="zh-CN"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rPr>
              <a:t>Introduction and Background</a:t>
            </a:r>
            <a:endParaRPr lang="en-US" altLang="zh-CN"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97000"/>
              </a:lnSpc>
            </a:pPr>
            <a:endParaRPr sz="1000" kern="100" dirty="0">
              <a:latin typeface="Times New Roman" panose="02020603050405020304" charset="0"/>
              <a:ea typeface="Arial" panose="020B0604020202020204"/>
              <a:cs typeface="Times New Roman" panose="02020603050405020304" charset="0"/>
            </a:endParaRPr>
          </a:p>
          <a:p>
            <a:pPr algn="l" rtl="0" eaLnBrk="0">
              <a:lnSpc>
                <a:spcPct val="124000"/>
              </a:lnSpc>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Data Source and Data Reprocessing</a:t>
            </a:r>
            <a:endParaRPr sz="1000" kern="100" dirty="0">
              <a:latin typeface="Times New Roman" panose="02020603050405020304" charset="0"/>
              <a:ea typeface="Arial" panose="020B0604020202020204"/>
              <a:cs typeface="Times New Roman" panose="02020603050405020304" charset="0"/>
            </a:endParaRPr>
          </a:p>
          <a:p>
            <a:pPr algn="l" rtl="0" eaLnBrk="0">
              <a:lnSpc>
                <a:spcPct val="124000"/>
              </a:lnSpc>
            </a:pP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2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Base Hypothesis Testing</a:t>
            </a: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algn="l" rtl="0" eaLnBrk="0">
              <a:lnSpc>
                <a:spcPct val="124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sym typeface="+mn-ea"/>
              </a:rPr>
              <a:t>Two-stage Model</a:t>
            </a:r>
            <a:endParaRPr sz="1000" kern="100" dirty="0">
              <a:solidFill>
                <a:schemeClr val="bg1"/>
              </a:solidFill>
              <a:latin typeface="Times New Roman" panose="02020603050405020304" charset="0"/>
              <a:ea typeface="Arial" panose="020B0604020202020204"/>
              <a:cs typeface="Times New Roman" panose="02020603050405020304" charset="0"/>
            </a:endParaRPr>
          </a:p>
          <a:p>
            <a:pPr algn="l" rtl="0" eaLnBrk="0">
              <a:lnSpc>
                <a:spcPct val="129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rPr>
              <a:t>▶ </a:t>
            </a:r>
            <a:r>
              <a:rPr lang="en-US" altLang="zh-CN"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rPr>
              <a:t>Mechanism Test: Interpreting the Model’s Incremental Alpha</a:t>
            </a: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Conclusion</a:t>
            </a:r>
            <a:endParaRPr sz="1000" kern="100" dirty="0">
              <a:latin typeface="Times New Roman" panose="02020603050405020304" charset="0"/>
              <a:ea typeface="Arial" panose="020B0604020202020204"/>
              <a:cs typeface="Times New Roman" panose="02020603050405020304" charset="0"/>
            </a:endParaRPr>
          </a:p>
          <a:p>
            <a:pPr algn="l" rtl="0" eaLnBrk="0">
              <a:lnSpc>
                <a:spcPct val="125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Q&amp;A</a:t>
            </a: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p:txBody>
      </p:sp>
      <p:sp>
        <p:nvSpPr>
          <p:cNvPr id="12" name="textbox 12"/>
          <p:cNvSpPr/>
          <p:nvPr/>
        </p:nvSpPr>
        <p:spPr>
          <a:xfrm>
            <a:off x="966764" y="273083"/>
            <a:ext cx="1807845" cy="3175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4000"/>
              </a:lnSpc>
            </a:pP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Table</a:t>
            </a:r>
            <a:r>
              <a:rPr sz="1400" b="1" kern="0" spc="210" dirty="0">
                <a:solidFill>
                  <a:srgbClr val="FFFFFF">
                    <a:alpha val="100000"/>
                  </a:srgbClr>
                </a:solidFill>
                <a:latin typeface="Times New Roman" panose="02020603050405020304" charset="0"/>
                <a:ea typeface="Arial" panose="020B0604020202020204"/>
                <a:cs typeface="Times New Roman" panose="02020603050405020304" charset="0"/>
              </a:rPr>
              <a:t> </a:t>
            </a: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of</a:t>
            </a:r>
            <a:r>
              <a:rPr sz="1400" b="1" kern="0" spc="130" dirty="0">
                <a:solidFill>
                  <a:srgbClr val="FFFFFF">
                    <a:alpha val="100000"/>
                  </a:srgbClr>
                </a:solidFill>
                <a:latin typeface="Times New Roman" panose="02020603050405020304" charset="0"/>
                <a:ea typeface="Arial" panose="020B0604020202020204"/>
                <a:cs typeface="Times New Roman" panose="02020603050405020304" charset="0"/>
              </a:rPr>
              <a:t> </a:t>
            </a: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Contents</a:t>
            </a:r>
            <a:endParaRPr sz="1400" dirty="0">
              <a:latin typeface="Times New Roman" panose="02020603050405020304" charset="0"/>
              <a:ea typeface="Arial" panose="020B0604020202020204"/>
              <a:cs typeface="Times New Roman" panose="02020603050405020304" charset="0"/>
            </a:endParaRPr>
          </a:p>
          <a:p>
            <a:pPr marL="15240" algn="l" rtl="0" eaLnBrk="0">
              <a:lnSpc>
                <a:spcPct val="87000"/>
              </a:lnSpc>
              <a:spcBef>
                <a:spcPts val="220"/>
              </a:spcBef>
            </a:pPr>
            <a:r>
              <a:rPr lang="en-US"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rPr>
              <a:t>4</a:t>
            </a:r>
            <a:r>
              <a:rPr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rPr>
              <a:t>  </a:t>
            </a:r>
            <a:r>
              <a:rPr lang="en-US" sz="8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sym typeface="+mn-ea"/>
              </a:rPr>
              <a:t>Two-stage Model</a:t>
            </a:r>
            <a:endParaRPr lang="en-US"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endParaRPr>
          </a:p>
        </p:txBody>
      </p:sp>
      <p:pic>
        <p:nvPicPr>
          <p:cNvPr id="14" name="picture 14"/>
          <p:cNvPicPr>
            <a:picLocks noChangeAspect="1"/>
          </p:cNvPicPr>
          <p:nvPr/>
        </p:nvPicPr>
        <p:blipFill>
          <a:blip r:embed="rId1"/>
          <a:stretch>
            <a:fillRect/>
          </a:stretch>
        </p:blipFill>
        <p:spPr>
          <a:xfrm rot="21600000">
            <a:off x="360019" y="1"/>
            <a:ext cx="504052" cy="599997"/>
          </a:xfrm>
          <a:prstGeom prst="rect">
            <a:avLst/>
          </a:prstGeom>
        </p:spPr>
      </p:pic>
      <p:sp>
        <p:nvSpPr>
          <p:cNvPr id="16" name="textbox 16"/>
          <p:cNvSpPr/>
          <p:nvPr/>
        </p:nvSpPr>
        <p:spPr>
          <a:xfrm>
            <a:off x="352658" y="3763384"/>
            <a:ext cx="235584" cy="12700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17</a:t>
            </a:r>
            <a:endParaRPr lang="en-US" sz="700" kern="0" spc="60" dirty="0">
              <a:solidFill>
                <a:srgbClr val="FFFFFF">
                  <a:alpha val="100000"/>
                </a:srgbClr>
              </a:solidFill>
              <a:latin typeface="Arial" panose="020B0604020202020204"/>
              <a:ea typeface="Arial" panose="020B0604020202020204"/>
              <a:cs typeface="Arial" panose="020B0604020202020204"/>
            </a:endParaRPr>
          </a:p>
        </p:txBody>
      </p:sp>
      <p:pic>
        <p:nvPicPr>
          <p:cNvPr id="5" name="图片 4"/>
          <p:cNvPicPr>
            <a:picLocks noChangeAspect="1"/>
          </p:cNvPicPr>
          <p:nvPr/>
        </p:nvPicPr>
        <p:blipFill>
          <a:blip r:embed="rId2"/>
          <a:stretch>
            <a:fillRect/>
          </a:stretch>
        </p:blipFill>
        <p:spPr>
          <a:xfrm>
            <a:off x="360045" y="635"/>
            <a:ext cx="505460" cy="5994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4"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Methodology: Baseline Model</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4</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Two-stage Model</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18</a:t>
            </a:r>
            <a:endParaRPr sz="700" dirty="0">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pic>
        <p:nvPicPr>
          <p:cNvPr id="2" name="图片 1"/>
          <p:cNvPicPr>
            <a:picLocks noChangeAspect="1"/>
          </p:cNvPicPr>
          <p:nvPr/>
        </p:nvPicPr>
        <p:blipFill>
          <a:blip r:embed="rId3"/>
          <a:stretch>
            <a:fillRect/>
          </a:stretch>
        </p:blipFill>
        <p:spPr>
          <a:xfrm>
            <a:off x="529590" y="872490"/>
            <a:ext cx="5993130" cy="2124710"/>
          </a:xfrm>
          <a:prstGeom prst="rect">
            <a:avLst/>
          </a:prstGeom>
        </p:spPr>
      </p:pic>
      <p:sp>
        <p:nvSpPr>
          <p:cNvPr id="7" name="文本框 6"/>
          <p:cNvSpPr txBox="1"/>
          <p:nvPr/>
        </p:nvSpPr>
        <p:spPr>
          <a:xfrm>
            <a:off x="601345" y="3098165"/>
            <a:ext cx="5848985" cy="275590"/>
          </a:xfrm>
          <a:prstGeom prst="rect">
            <a:avLst/>
          </a:prstGeom>
          <a:noFill/>
        </p:spPr>
        <p:txBody>
          <a:bodyPr wrap="square" rtlCol="0">
            <a:spAutoFit/>
          </a:bodyPr>
          <a:p>
            <a:r>
              <a:rPr lang="en-US" altLang="zh-CN" sz="1200" b="1">
                <a:latin typeface="Times New Roman" panose="02020603050405020304" charset="0"/>
                <a:cs typeface="Times New Roman" panose="02020603050405020304" charset="0"/>
              </a:rPr>
              <a:t>Baseline Model:</a:t>
            </a:r>
            <a:r>
              <a:rPr lang="en-US" altLang="zh-CN" sz="1200">
                <a:latin typeface="Times New Roman" panose="02020603050405020304" charset="0"/>
                <a:cs typeface="Times New Roman" panose="02020603050405020304" charset="0"/>
              </a:rPr>
              <a:t> A three-hidden-layer MLP with structure (20, 25, 20), trained for 5 epochs.</a:t>
            </a:r>
            <a:endParaRPr lang="en-US" altLang="zh-CN" sz="1200">
              <a:latin typeface="Times New Roman" panose="02020603050405020304" charset="0"/>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4"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Two-Stage Model—Stage 1: Predict Future Fundamentals</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4</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Two-stage Model</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19</a:t>
            </a:r>
            <a:endParaRPr sz="700" dirty="0">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pic>
        <p:nvPicPr>
          <p:cNvPr id="4" name="图片 3"/>
          <p:cNvPicPr>
            <a:picLocks noChangeAspect="1"/>
          </p:cNvPicPr>
          <p:nvPr/>
        </p:nvPicPr>
        <p:blipFill>
          <a:blip r:embed="rId3"/>
          <a:srcRect t="10526"/>
          <a:stretch>
            <a:fillRect/>
          </a:stretch>
        </p:blipFill>
        <p:spPr>
          <a:xfrm>
            <a:off x="601345" y="1078865"/>
            <a:ext cx="5996940" cy="827405"/>
          </a:xfrm>
          <a:prstGeom prst="rect">
            <a:avLst/>
          </a:prstGeom>
        </p:spPr>
      </p:pic>
      <p:sp>
        <p:nvSpPr>
          <p:cNvPr id="2" name="文本框 1"/>
          <p:cNvSpPr txBox="1"/>
          <p:nvPr/>
        </p:nvSpPr>
        <p:spPr>
          <a:xfrm>
            <a:off x="601345" y="2176145"/>
            <a:ext cx="5537200" cy="460375"/>
          </a:xfrm>
          <a:prstGeom prst="rect">
            <a:avLst/>
          </a:prstGeom>
          <a:noFill/>
        </p:spPr>
        <p:txBody>
          <a:bodyPr wrap="square" rtlCol="0" anchor="t">
            <a:spAutoFit/>
          </a:bodyPr>
          <a:p>
            <a:r>
              <a:rPr lang="en-US" altLang="zh-CN" sz="1200" b="1">
                <a:latin typeface="Times New Roman" panose="02020603050405020304" charset="0"/>
                <a:cs typeface="Times New Roman" panose="02020603050405020304" charset="0"/>
              </a:rPr>
              <a:t>Stage I (Inner MLP): </a:t>
            </a:r>
            <a:r>
              <a:rPr lang="en-US" altLang="zh-CN" sz="1200">
                <a:latin typeface="Times New Roman" panose="02020603050405020304" charset="0"/>
                <a:cs typeface="Times New Roman" panose="02020603050405020304" charset="0"/>
              </a:rPr>
              <a:t>To predict next-period fundamentals with structure (10, 20, 10)</a:t>
            </a:r>
            <a:endParaRPr lang="en-US" altLang="zh-CN" sz="1200">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network, trained for 4 epochs with Mean Squared Error (MSE) loss.</a:t>
            </a:r>
            <a:endParaRPr lang="zh-CN" altLang="en-US" sz="1200">
              <a:latin typeface="Times New Roman" panose="02020603050405020304" charset="0"/>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4" name="textbox 24"/>
          <p:cNvSpPr/>
          <p:nvPr/>
        </p:nvSpPr>
        <p:spPr>
          <a:xfrm>
            <a:off x="963295" y="273050"/>
            <a:ext cx="6096635" cy="3175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Two-Stage Model—Stage 2: Predict Returns Using Predicted Fundamentals</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4</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Two-stage Model</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sz="700" kern="0" spc="60" dirty="0">
                <a:solidFill>
                  <a:srgbClr val="FFFFFF">
                    <a:alpha val="100000"/>
                  </a:srgbClr>
                </a:solidFill>
                <a:latin typeface="Arial" panose="020B0604020202020204"/>
                <a:ea typeface="Arial" panose="020B0604020202020204"/>
                <a:cs typeface="Arial" panose="020B0604020202020204"/>
              </a:rPr>
              <a:t>2</a:t>
            </a:r>
            <a:r>
              <a:rPr lang="en-US" sz="700" kern="0" spc="60" dirty="0">
                <a:solidFill>
                  <a:srgbClr val="FFFFFF">
                    <a:alpha val="100000"/>
                  </a:srgbClr>
                </a:solidFill>
                <a:latin typeface="Arial" panose="020B0604020202020204"/>
                <a:ea typeface="Arial" panose="020B0604020202020204"/>
                <a:cs typeface="Arial" panose="020B0604020202020204"/>
              </a:rPr>
              <a:t>0</a:t>
            </a:r>
            <a:endParaRPr lang="en-US" sz="700" kern="0" spc="60" dirty="0">
              <a:solidFill>
                <a:srgbClr val="FFFFFF">
                  <a:alpha val="100000"/>
                </a:srgbClr>
              </a:solidFill>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pic>
        <p:nvPicPr>
          <p:cNvPr id="6" name="图片 5"/>
          <p:cNvPicPr>
            <a:picLocks noChangeAspect="1"/>
          </p:cNvPicPr>
          <p:nvPr/>
        </p:nvPicPr>
        <p:blipFill>
          <a:blip r:embed="rId3"/>
          <a:stretch>
            <a:fillRect/>
          </a:stretch>
        </p:blipFill>
        <p:spPr>
          <a:xfrm>
            <a:off x="601345" y="1123315"/>
            <a:ext cx="5977890" cy="780415"/>
          </a:xfrm>
          <a:prstGeom prst="rect">
            <a:avLst/>
          </a:prstGeom>
        </p:spPr>
      </p:pic>
      <p:sp>
        <p:nvSpPr>
          <p:cNvPr id="2" name="文本框 1"/>
          <p:cNvSpPr txBox="1"/>
          <p:nvPr/>
        </p:nvSpPr>
        <p:spPr>
          <a:xfrm>
            <a:off x="601345" y="2150745"/>
            <a:ext cx="5891530" cy="645160"/>
          </a:xfrm>
          <a:prstGeom prst="rect">
            <a:avLst/>
          </a:prstGeom>
          <a:noFill/>
        </p:spPr>
        <p:txBody>
          <a:bodyPr wrap="square" rtlCol="0">
            <a:spAutoFit/>
          </a:bodyPr>
          <a:p>
            <a:r>
              <a:rPr lang="en-US" altLang="zh-CN" sz="1200" b="1">
                <a:latin typeface="Times New Roman" panose="02020603050405020304" charset="0"/>
                <a:cs typeface="Times New Roman" panose="02020603050405020304" charset="0"/>
              </a:rPr>
              <a:t>Stage II (Outer MLP):</a:t>
            </a:r>
            <a:r>
              <a:rPr lang="en-US" altLang="zh-CN" sz="1200">
                <a:latin typeface="Times New Roman" panose="02020603050405020304" charset="0"/>
                <a:cs typeface="Times New Roman" panose="02020603050405020304" charset="0"/>
              </a:rPr>
              <a:t> Uses an identical architecture to the Baseline model (20, 25, 20),</a:t>
            </a:r>
            <a:endParaRPr lang="en-US" altLang="zh-CN" sz="1200">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trained for 5 epochs. This ensures a fair comparison, isolating performance differences to the</a:t>
            </a:r>
            <a:endParaRPr lang="en-US" altLang="zh-CN" sz="1200">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input feature quality.</a:t>
            </a:r>
            <a:endParaRPr lang="en-US" altLang="zh-CN" sz="1200">
              <a:latin typeface="Times New Roman" panose="02020603050405020304" charset="0"/>
              <a:cs typeface="Times New Roman"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sp>
        <p:nvSpPr>
          <p:cNvPr id="24"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Empirical Results——Performance Comparison: </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algn="l" rtl="0" eaLnBrk="0">
              <a:lnSpc>
                <a:spcPct val="86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Two-stage Model Out Perform the Baseline</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4</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Two-stage Model</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814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sz="700" kern="0" spc="60" dirty="0">
                <a:solidFill>
                  <a:srgbClr val="FFFFFF">
                    <a:alpha val="100000"/>
                  </a:srgbClr>
                </a:solidFill>
                <a:latin typeface="Arial" panose="020B0604020202020204"/>
                <a:ea typeface="Arial" panose="020B0604020202020204"/>
                <a:cs typeface="Arial" panose="020B0604020202020204"/>
              </a:rPr>
              <a:t>2</a:t>
            </a:r>
            <a:r>
              <a:rPr lang="en-US" sz="700" kern="0" spc="60" dirty="0">
                <a:solidFill>
                  <a:srgbClr val="FFFFFF">
                    <a:alpha val="100000"/>
                  </a:srgbClr>
                </a:solidFill>
                <a:latin typeface="Arial" panose="020B0604020202020204"/>
                <a:ea typeface="Arial" panose="020B0604020202020204"/>
                <a:cs typeface="Arial" panose="020B0604020202020204"/>
              </a:rPr>
              <a:t>1</a:t>
            </a:r>
            <a:endParaRPr lang="en-US" sz="700" kern="0" spc="60" dirty="0">
              <a:solidFill>
                <a:srgbClr val="FFFFFF">
                  <a:alpha val="100000"/>
                </a:srgbClr>
              </a:solidFill>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
        <p:nvSpPr>
          <p:cNvPr id="6" name="文本框 5"/>
          <p:cNvSpPr txBox="1"/>
          <p:nvPr/>
        </p:nvSpPr>
        <p:spPr>
          <a:xfrm>
            <a:off x="351790" y="3074670"/>
            <a:ext cx="3226435" cy="213995"/>
          </a:xfrm>
          <a:prstGeom prst="rect">
            <a:avLst/>
          </a:prstGeom>
          <a:noFill/>
        </p:spPr>
        <p:txBody>
          <a:bodyPr wrap="square" rtlCol="0" anchor="t">
            <a:spAutoFit/>
          </a:bodyPr>
          <a:p>
            <a:r>
              <a:rPr lang="en-US" altLang="zh-CN" sz="800">
                <a:latin typeface="Times New Roman" panose="02020603050405020304" charset="0"/>
                <a:cs typeface="Times New Roman" panose="02020603050405020304" charset="0"/>
              </a:rPr>
              <a:t>Figure 3: Continuous Cumulative IC Curve for Baseline Model</a:t>
            </a:r>
            <a:endParaRPr lang="en-US" altLang="zh-CN" sz="800">
              <a:latin typeface="Times New Roman" panose="02020603050405020304" charset="0"/>
              <a:cs typeface="Times New Roman" panose="02020603050405020304" charset="0"/>
            </a:endParaRPr>
          </a:p>
        </p:txBody>
      </p:sp>
      <p:sp>
        <p:nvSpPr>
          <p:cNvPr id="7" name="文本框 6"/>
          <p:cNvSpPr txBox="1"/>
          <p:nvPr/>
        </p:nvSpPr>
        <p:spPr>
          <a:xfrm>
            <a:off x="3957955" y="3074670"/>
            <a:ext cx="3241675" cy="213995"/>
          </a:xfrm>
          <a:prstGeom prst="rect">
            <a:avLst/>
          </a:prstGeom>
          <a:noFill/>
        </p:spPr>
        <p:txBody>
          <a:bodyPr wrap="square" rtlCol="0" anchor="t">
            <a:spAutoFit/>
          </a:bodyPr>
          <a:p>
            <a:r>
              <a:rPr lang="en-US" altLang="zh-CN" sz="800">
                <a:latin typeface="Times New Roman" panose="02020603050405020304" charset="0"/>
                <a:cs typeface="Times New Roman" panose="02020603050405020304" charset="0"/>
              </a:rPr>
              <a:t>Figure 4: Continuous Cumulative IC Curve for Two-stage Model</a:t>
            </a:r>
            <a:endParaRPr lang="en-US" altLang="zh-CN" sz="800">
              <a:latin typeface="Times New Roman" panose="02020603050405020304" charset="0"/>
              <a:cs typeface="Times New Roman" panose="02020603050405020304" charset="0"/>
            </a:endParaRPr>
          </a:p>
        </p:txBody>
      </p:sp>
      <p:pic>
        <p:nvPicPr>
          <p:cNvPr id="2" name="图片 1" descr="baseline_ic"/>
          <p:cNvPicPr>
            <a:picLocks noChangeAspect="1"/>
          </p:cNvPicPr>
          <p:nvPr/>
        </p:nvPicPr>
        <p:blipFill>
          <a:blip r:embed="rId3"/>
          <a:stretch>
            <a:fillRect/>
          </a:stretch>
        </p:blipFill>
        <p:spPr>
          <a:xfrm>
            <a:off x="193040" y="860425"/>
            <a:ext cx="3345815" cy="2214245"/>
          </a:xfrm>
          <a:prstGeom prst="rect">
            <a:avLst/>
          </a:prstGeom>
        </p:spPr>
      </p:pic>
      <p:pic>
        <p:nvPicPr>
          <p:cNvPr id="8" name="图片 7" descr="two_stage_ic"/>
          <p:cNvPicPr>
            <a:picLocks noChangeAspect="1"/>
          </p:cNvPicPr>
          <p:nvPr/>
        </p:nvPicPr>
        <p:blipFill>
          <a:blip r:embed="rId4"/>
          <a:stretch>
            <a:fillRect/>
          </a:stretch>
        </p:blipFill>
        <p:spPr>
          <a:xfrm>
            <a:off x="3615055" y="855345"/>
            <a:ext cx="3402330" cy="225234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sz="700" kern="0" spc="60" dirty="0">
                <a:solidFill>
                  <a:srgbClr val="FFFFFF">
                    <a:alpha val="100000"/>
                  </a:srgbClr>
                </a:solidFill>
                <a:latin typeface="Arial" panose="020B0604020202020204"/>
                <a:ea typeface="Arial" panose="020B0604020202020204"/>
                <a:cs typeface="Arial" panose="020B0604020202020204"/>
              </a:rPr>
              <a:t>22</a:t>
            </a:r>
            <a:endParaRPr sz="700" dirty="0">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
        <p:nvSpPr>
          <p:cNvPr id="6" name="文本框 5"/>
          <p:cNvSpPr txBox="1"/>
          <p:nvPr/>
        </p:nvSpPr>
        <p:spPr>
          <a:xfrm>
            <a:off x="1663065" y="3350895"/>
            <a:ext cx="4165600" cy="245110"/>
          </a:xfrm>
          <a:prstGeom prst="rect">
            <a:avLst/>
          </a:prstGeom>
          <a:noFill/>
        </p:spPr>
        <p:txBody>
          <a:bodyPr wrap="square" rtlCol="0" anchor="t">
            <a:spAutoFit/>
          </a:bodyPr>
          <a:p>
            <a:r>
              <a:rPr lang="en-US" altLang="zh-CN" sz="1000">
                <a:latin typeface="Times New Roman" panose="02020603050405020304" charset="0"/>
                <a:cs typeface="Times New Roman" panose="02020603050405020304" charset="0"/>
              </a:rPr>
              <a:t>Figure 5: Group Returns &amp; Hedge Portfolio Performance for Baseline Model</a:t>
            </a:r>
            <a:endParaRPr lang="en-US" altLang="zh-CN" sz="1000">
              <a:latin typeface="Times New Roman" panose="02020603050405020304" charset="0"/>
              <a:cs typeface="Times New Roman" panose="02020603050405020304" charset="0"/>
            </a:endParaRPr>
          </a:p>
        </p:txBody>
      </p:sp>
      <p:pic>
        <p:nvPicPr>
          <p:cNvPr id="4" name="图片 3" descr="two_stage_group"/>
          <p:cNvPicPr>
            <a:picLocks noChangeAspect="1"/>
          </p:cNvPicPr>
          <p:nvPr/>
        </p:nvPicPr>
        <p:blipFill>
          <a:blip r:embed="rId3"/>
          <a:stretch>
            <a:fillRect/>
          </a:stretch>
        </p:blipFill>
        <p:spPr>
          <a:xfrm>
            <a:off x="1128395" y="753745"/>
            <a:ext cx="5234305" cy="2597150"/>
          </a:xfrm>
          <a:prstGeom prst="rect">
            <a:avLst/>
          </a:prstGeom>
        </p:spPr>
      </p:pic>
      <p:sp>
        <p:nvSpPr>
          <p:cNvPr id="9"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Empirical Results——Performance Comparison: </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algn="l" rtl="0" eaLnBrk="0">
              <a:lnSpc>
                <a:spcPct val="86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Two-stage Model Out Perform the Baseline</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4</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Two-stage Model</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sz="700" kern="0" spc="60" dirty="0">
                <a:solidFill>
                  <a:srgbClr val="FFFFFF">
                    <a:alpha val="100000"/>
                  </a:srgbClr>
                </a:solidFill>
                <a:latin typeface="Arial" panose="020B0604020202020204"/>
                <a:ea typeface="Arial" panose="020B0604020202020204"/>
                <a:cs typeface="Arial" panose="020B0604020202020204"/>
              </a:rPr>
              <a:t>2</a:t>
            </a:r>
            <a:r>
              <a:rPr lang="en-US" sz="700" kern="0" spc="60" dirty="0">
                <a:solidFill>
                  <a:srgbClr val="FFFFFF">
                    <a:alpha val="100000"/>
                  </a:srgbClr>
                </a:solidFill>
                <a:latin typeface="Arial" panose="020B0604020202020204"/>
                <a:ea typeface="Arial" panose="020B0604020202020204"/>
                <a:cs typeface="Arial" panose="020B0604020202020204"/>
              </a:rPr>
              <a:t>3</a:t>
            </a:r>
            <a:endParaRPr lang="en-US" sz="700" kern="0" spc="60" dirty="0">
              <a:solidFill>
                <a:srgbClr val="FFFFFF">
                  <a:alpha val="100000"/>
                </a:srgbClr>
              </a:solidFill>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
        <p:nvSpPr>
          <p:cNvPr id="7" name="文本框 6"/>
          <p:cNvSpPr txBox="1"/>
          <p:nvPr/>
        </p:nvSpPr>
        <p:spPr>
          <a:xfrm>
            <a:off x="1456690" y="3319780"/>
            <a:ext cx="4346575" cy="245110"/>
          </a:xfrm>
          <a:prstGeom prst="rect">
            <a:avLst/>
          </a:prstGeom>
          <a:noFill/>
        </p:spPr>
        <p:txBody>
          <a:bodyPr wrap="square" rtlCol="0" anchor="t">
            <a:spAutoFit/>
          </a:bodyPr>
          <a:p>
            <a:r>
              <a:rPr lang="en-US" altLang="zh-CN" sz="1000">
                <a:latin typeface="Times New Roman" panose="02020603050405020304" charset="0"/>
                <a:cs typeface="Times New Roman" panose="02020603050405020304" charset="0"/>
              </a:rPr>
              <a:t>Figure 6: Group Returns &amp; Hedge Portfolio Performance for Two-stage Model</a:t>
            </a:r>
            <a:endParaRPr lang="en-US" altLang="zh-CN" sz="1000">
              <a:latin typeface="Times New Roman" panose="02020603050405020304" charset="0"/>
              <a:cs typeface="Times New Roman" panose="02020603050405020304" charset="0"/>
            </a:endParaRPr>
          </a:p>
        </p:txBody>
      </p:sp>
      <p:pic>
        <p:nvPicPr>
          <p:cNvPr id="5" name="图片 4" descr="baseline_group"/>
          <p:cNvPicPr>
            <a:picLocks noChangeAspect="1"/>
          </p:cNvPicPr>
          <p:nvPr/>
        </p:nvPicPr>
        <p:blipFill>
          <a:blip r:embed="rId3"/>
          <a:stretch>
            <a:fillRect/>
          </a:stretch>
        </p:blipFill>
        <p:spPr>
          <a:xfrm>
            <a:off x="1134745" y="802640"/>
            <a:ext cx="5073650" cy="2517140"/>
          </a:xfrm>
          <a:prstGeom prst="rect">
            <a:avLst/>
          </a:prstGeom>
        </p:spPr>
      </p:pic>
      <p:sp>
        <p:nvSpPr>
          <p:cNvPr id="10"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Empirical Results——Performance Comparison: </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algn="l" rtl="0" eaLnBrk="0">
              <a:lnSpc>
                <a:spcPct val="86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Two-stage Model Out Perform the Baseline</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4</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Two-stage Model</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sz="700" kern="0" spc="60" dirty="0">
                <a:solidFill>
                  <a:srgbClr val="FFFFFF">
                    <a:alpha val="100000"/>
                  </a:srgbClr>
                </a:solidFill>
                <a:latin typeface="Arial" panose="020B0604020202020204"/>
                <a:ea typeface="Arial" panose="020B0604020202020204"/>
                <a:cs typeface="Arial" panose="020B0604020202020204"/>
              </a:rPr>
              <a:t>2</a:t>
            </a:r>
            <a:r>
              <a:rPr lang="en-US" sz="700" kern="0" spc="60" dirty="0">
                <a:solidFill>
                  <a:srgbClr val="FFFFFF">
                    <a:alpha val="100000"/>
                  </a:srgbClr>
                </a:solidFill>
                <a:latin typeface="Arial" panose="020B0604020202020204"/>
                <a:ea typeface="Arial" panose="020B0604020202020204"/>
                <a:cs typeface="Arial" panose="020B0604020202020204"/>
              </a:rPr>
              <a:t>4</a:t>
            </a:r>
            <a:endParaRPr lang="en-US" sz="700" kern="0" spc="60" dirty="0">
              <a:solidFill>
                <a:srgbClr val="FFFFFF">
                  <a:alpha val="100000"/>
                </a:srgbClr>
              </a:solidFill>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
        <p:nvSpPr>
          <p:cNvPr id="10"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Empirical Results——Performance Comparison: </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algn="l" rtl="0" eaLnBrk="0">
              <a:lnSpc>
                <a:spcPct val="86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Two-stage Model Out Perform the Baseline</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4</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Two-stage Model</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 name="图片 1"/>
          <p:cNvPicPr>
            <a:picLocks noChangeAspect="1"/>
          </p:cNvPicPr>
          <p:nvPr/>
        </p:nvPicPr>
        <p:blipFill>
          <a:blip r:embed="rId3"/>
          <a:stretch>
            <a:fillRect/>
          </a:stretch>
        </p:blipFill>
        <p:spPr>
          <a:xfrm>
            <a:off x="1014095" y="1322705"/>
            <a:ext cx="5049520" cy="13144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 8"/>
          <p:cNvSpPr/>
          <p:nvPr/>
        </p:nvSpPr>
        <p:spPr>
          <a:xfrm>
            <a:off x="0" y="0"/>
            <a:ext cx="7199998" cy="3959999"/>
          </a:xfrm>
          <a:prstGeom prst="rect">
            <a:avLst/>
          </a:prstGeom>
          <a:solidFill>
            <a:srgbClr val="72256D">
              <a:alpha val="100000"/>
            </a:srgbClr>
          </a:solidFill>
          <a:ln w="0" cap="flat">
            <a:noFill/>
            <a:prstDash val="solid"/>
            <a:miter lim="0"/>
          </a:ln>
        </p:spPr>
        <p:txBody>
          <a:bodyPr rtlCol="0"/>
          <a:lstStyle/>
          <a:p>
            <a:pPr algn="ctr"/>
            <a:endParaRPr lang="zh-CN" altLang="en-US"/>
          </a:p>
        </p:txBody>
      </p:sp>
      <p:sp>
        <p:nvSpPr>
          <p:cNvPr id="10" name="textbox 10"/>
          <p:cNvSpPr/>
          <p:nvPr/>
        </p:nvSpPr>
        <p:spPr>
          <a:xfrm>
            <a:off x="360045" y="925195"/>
            <a:ext cx="3607435" cy="2382520"/>
          </a:xfrm>
          <a:prstGeom prst="rect">
            <a:avLst/>
          </a:prstGeom>
          <a:noFill/>
          <a:ln w="0" cap="flat">
            <a:noFill/>
            <a:prstDash val="solid"/>
            <a:miter lim="0"/>
          </a:ln>
        </p:spPr>
        <p:txBody>
          <a:bodyPr vert="horz" wrap="square" lIns="0" tIns="0" rIns="0" bIns="0"/>
          <a:lstStyle/>
          <a:p>
            <a:pPr algn="l" rtl="0" eaLnBrk="0">
              <a:lnSpc>
                <a:spcPct val="82000"/>
              </a:lnSpc>
            </a:pPr>
            <a:endParaRPr sz="100" kern="100" dirty="0">
              <a:latin typeface="Times New Roman" panose="02020603050405020304" charset="0"/>
              <a:ea typeface="Arial" panose="020B0604020202020204"/>
              <a:cs typeface="Times New Roman" panose="02020603050405020304" charset="0"/>
            </a:endParaRPr>
          </a:p>
          <a:p>
            <a:pPr marL="12700" algn="l" rtl="0" eaLnBrk="0">
              <a:lnSpc>
                <a:spcPct val="97000"/>
              </a:lnSpc>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altLang="zh-CN"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rPr>
              <a:t>Introduction and Background</a:t>
            </a:r>
            <a:endParaRPr lang="en-US" altLang="zh-CN"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97000"/>
              </a:lnSpc>
            </a:pPr>
            <a:endParaRPr sz="1000" kern="100" dirty="0">
              <a:latin typeface="Times New Roman" panose="02020603050405020304" charset="0"/>
              <a:ea typeface="Arial" panose="020B0604020202020204"/>
              <a:cs typeface="Times New Roman" panose="02020603050405020304" charset="0"/>
            </a:endParaRPr>
          </a:p>
          <a:p>
            <a:pPr algn="l" rtl="0" eaLnBrk="0">
              <a:lnSpc>
                <a:spcPct val="124000"/>
              </a:lnSpc>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Data Source and Data Reprocessing</a:t>
            </a:r>
            <a:endParaRPr sz="1000" kern="100" dirty="0">
              <a:latin typeface="Times New Roman" panose="02020603050405020304" charset="0"/>
              <a:ea typeface="Arial" panose="020B0604020202020204"/>
              <a:cs typeface="Times New Roman" panose="02020603050405020304" charset="0"/>
            </a:endParaRPr>
          </a:p>
          <a:p>
            <a:pPr algn="l" rtl="0" eaLnBrk="0">
              <a:lnSpc>
                <a:spcPct val="124000"/>
              </a:lnSpc>
            </a:pP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2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Base Hypothesis Testing</a:t>
            </a: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algn="l" rtl="0" eaLnBrk="0">
              <a:lnSpc>
                <a:spcPct val="124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Two-stage Model</a:t>
            </a: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rPr>
              <a:t>▶ </a:t>
            </a:r>
            <a:r>
              <a:rPr lang="en-US" altLang="zh-CN" sz="10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rPr>
              <a:t>Mechanism Test: Interpreting the Model’s Incremental Alpha</a:t>
            </a:r>
            <a:endParaRPr sz="1000" kern="100" dirty="0">
              <a:solidFill>
                <a:schemeClr val="bg1"/>
              </a:solidFill>
              <a:latin typeface="Times New Roman" panose="02020603050405020304" charset="0"/>
              <a:ea typeface="Arial" panose="020B0604020202020204"/>
              <a:cs typeface="Times New Roman" panose="02020603050405020304" charset="0"/>
            </a:endParaRPr>
          </a:p>
          <a:p>
            <a:pPr algn="l" rtl="0" eaLnBrk="0">
              <a:lnSpc>
                <a:spcPct val="129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Conclusion</a:t>
            </a:r>
            <a:endParaRPr sz="1000" kern="100" dirty="0">
              <a:latin typeface="Times New Roman" panose="02020603050405020304" charset="0"/>
              <a:ea typeface="Arial" panose="020B0604020202020204"/>
              <a:cs typeface="Times New Roman" panose="02020603050405020304" charset="0"/>
            </a:endParaRPr>
          </a:p>
          <a:p>
            <a:pPr algn="l" rtl="0" eaLnBrk="0">
              <a:lnSpc>
                <a:spcPct val="125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Q&amp;A</a:t>
            </a: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p:txBody>
      </p:sp>
      <p:sp>
        <p:nvSpPr>
          <p:cNvPr id="12" name="textbox 12"/>
          <p:cNvSpPr/>
          <p:nvPr/>
        </p:nvSpPr>
        <p:spPr>
          <a:xfrm>
            <a:off x="966470" y="273050"/>
            <a:ext cx="3788410" cy="3175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4000"/>
              </a:lnSpc>
            </a:pP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Table</a:t>
            </a:r>
            <a:r>
              <a:rPr sz="1400" b="1" kern="0" spc="210" dirty="0">
                <a:solidFill>
                  <a:srgbClr val="FFFFFF">
                    <a:alpha val="100000"/>
                  </a:srgbClr>
                </a:solidFill>
                <a:latin typeface="Times New Roman" panose="02020603050405020304" charset="0"/>
                <a:ea typeface="Arial" panose="020B0604020202020204"/>
                <a:cs typeface="Times New Roman" panose="02020603050405020304" charset="0"/>
              </a:rPr>
              <a:t> </a:t>
            </a: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of</a:t>
            </a:r>
            <a:r>
              <a:rPr sz="1400" b="1" kern="0" spc="130" dirty="0">
                <a:solidFill>
                  <a:srgbClr val="FFFFFF">
                    <a:alpha val="100000"/>
                  </a:srgbClr>
                </a:solidFill>
                <a:latin typeface="Times New Roman" panose="02020603050405020304" charset="0"/>
                <a:ea typeface="Arial" panose="020B0604020202020204"/>
                <a:cs typeface="Times New Roman" panose="02020603050405020304" charset="0"/>
              </a:rPr>
              <a:t> </a:t>
            </a: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Contents</a:t>
            </a:r>
            <a:endParaRPr sz="1400" dirty="0">
              <a:latin typeface="Times New Roman" panose="02020603050405020304" charset="0"/>
              <a:ea typeface="Arial" panose="020B0604020202020204"/>
              <a:cs typeface="Times New Roman" panose="02020603050405020304" charset="0"/>
            </a:endParaRPr>
          </a:p>
          <a:p>
            <a:pPr marL="15240" algn="l" rtl="0" eaLnBrk="0">
              <a:lnSpc>
                <a:spcPct val="87000"/>
              </a:lnSpc>
              <a:spcBef>
                <a:spcPts val="220"/>
              </a:spcBef>
            </a:pPr>
            <a:r>
              <a:rPr lang="en-US"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rPr>
              <a:t>5</a:t>
            </a:r>
            <a:r>
              <a:rPr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rPr>
              <a:t>  </a:t>
            </a:r>
            <a:r>
              <a:rPr lang="en-US" altLang="zh-CN" sz="8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sym typeface="+mn-ea"/>
              </a:rPr>
              <a:t>Mechanism Test: Interpreting the Model’s Incremental Alpha</a:t>
            </a:r>
            <a:endParaRPr lang="en-US"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endParaRPr>
          </a:p>
        </p:txBody>
      </p:sp>
      <p:pic>
        <p:nvPicPr>
          <p:cNvPr id="14" name="picture 14"/>
          <p:cNvPicPr>
            <a:picLocks noChangeAspect="1"/>
          </p:cNvPicPr>
          <p:nvPr/>
        </p:nvPicPr>
        <p:blipFill>
          <a:blip r:embed="rId1"/>
          <a:stretch>
            <a:fillRect/>
          </a:stretch>
        </p:blipFill>
        <p:spPr>
          <a:xfrm rot="21600000">
            <a:off x="360019" y="1"/>
            <a:ext cx="504052" cy="599997"/>
          </a:xfrm>
          <a:prstGeom prst="rect">
            <a:avLst/>
          </a:prstGeom>
        </p:spPr>
      </p:pic>
      <p:sp>
        <p:nvSpPr>
          <p:cNvPr id="16" name="textbox 16"/>
          <p:cNvSpPr/>
          <p:nvPr/>
        </p:nvSpPr>
        <p:spPr>
          <a:xfrm>
            <a:off x="352658" y="3763384"/>
            <a:ext cx="235584" cy="12700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sz="700" kern="0" spc="60" dirty="0">
                <a:solidFill>
                  <a:srgbClr val="FFFFFF">
                    <a:alpha val="100000"/>
                  </a:srgbClr>
                </a:solidFill>
                <a:latin typeface="Arial" panose="020B0604020202020204"/>
                <a:ea typeface="Arial" panose="020B0604020202020204"/>
                <a:cs typeface="Arial" panose="020B0604020202020204"/>
              </a:rPr>
              <a:t>2</a:t>
            </a:r>
            <a:r>
              <a:rPr lang="en-US" sz="700" kern="0" spc="60" dirty="0">
                <a:solidFill>
                  <a:srgbClr val="FFFFFF">
                    <a:alpha val="100000"/>
                  </a:srgbClr>
                </a:solidFill>
                <a:latin typeface="Arial" panose="020B0604020202020204"/>
                <a:ea typeface="Arial" panose="020B0604020202020204"/>
                <a:cs typeface="Arial" panose="020B0604020202020204"/>
              </a:rPr>
              <a:t>5</a:t>
            </a:r>
            <a:endParaRPr lang="en-US" sz="700" kern="0" spc="60" dirty="0">
              <a:solidFill>
                <a:srgbClr val="FFFFFF">
                  <a:alpha val="100000"/>
                </a:srgbClr>
              </a:solidFill>
              <a:latin typeface="Arial" panose="020B0604020202020204"/>
              <a:ea typeface="Arial" panose="020B0604020202020204"/>
              <a:cs typeface="Arial" panose="020B0604020202020204"/>
            </a:endParaRPr>
          </a:p>
        </p:txBody>
      </p:sp>
      <p:pic>
        <p:nvPicPr>
          <p:cNvPr id="5" name="图片 4"/>
          <p:cNvPicPr>
            <a:picLocks noChangeAspect="1"/>
          </p:cNvPicPr>
          <p:nvPr/>
        </p:nvPicPr>
        <p:blipFill>
          <a:blip r:embed="rId2"/>
          <a:stretch>
            <a:fillRect/>
          </a:stretch>
        </p:blipFill>
        <p:spPr>
          <a:xfrm>
            <a:off x="360045" y="635"/>
            <a:ext cx="505460" cy="5994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sz="700" kern="0" spc="60" dirty="0">
                <a:solidFill>
                  <a:srgbClr val="FFFFFF">
                    <a:alpha val="100000"/>
                  </a:srgbClr>
                </a:solidFill>
                <a:latin typeface="Arial" panose="020B0604020202020204"/>
                <a:ea typeface="Arial" panose="020B0604020202020204"/>
                <a:cs typeface="Arial" panose="020B0604020202020204"/>
              </a:rPr>
              <a:t>2</a:t>
            </a:r>
            <a:r>
              <a:rPr lang="en-US" sz="700" kern="0" spc="60" dirty="0">
                <a:solidFill>
                  <a:srgbClr val="FFFFFF">
                    <a:alpha val="100000"/>
                  </a:srgbClr>
                </a:solidFill>
                <a:latin typeface="Arial" panose="020B0604020202020204"/>
                <a:ea typeface="Arial" panose="020B0604020202020204"/>
                <a:cs typeface="Arial" panose="020B0604020202020204"/>
              </a:rPr>
              <a:t>6</a:t>
            </a:r>
            <a:endParaRPr lang="en-US" sz="700" kern="0" spc="60" dirty="0">
              <a:solidFill>
                <a:srgbClr val="FFFFFF">
                  <a:alpha val="100000"/>
                </a:srgbClr>
              </a:solidFill>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
        <p:nvSpPr>
          <p:cNvPr id="9"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Where does this incremental performance actually come from?</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5</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Mechanism Test: Interpreting the Model’s Incremental Alpha</a:t>
            </a:r>
            <a:endPar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sp>
        <p:nvSpPr>
          <p:cNvPr id="8" name="文本框 7"/>
          <p:cNvSpPr txBox="1"/>
          <p:nvPr/>
        </p:nvSpPr>
        <p:spPr>
          <a:xfrm>
            <a:off x="720725" y="851535"/>
            <a:ext cx="5728335" cy="2491740"/>
          </a:xfrm>
          <a:prstGeom prst="rect">
            <a:avLst/>
          </a:prstGeom>
          <a:noFill/>
        </p:spPr>
        <p:txBody>
          <a:bodyPr wrap="square" rtlCol="0" anchor="t">
            <a:spAutoFit/>
          </a:bodyPr>
          <a:p>
            <a:r>
              <a:rPr lang="en-US" altLang="zh-CN" sz="1200">
                <a:latin typeface="Times New Roman" panose="02020603050405020304" charset="0"/>
                <a:cs typeface="Times New Roman" panose="02020603050405020304" charset="0"/>
              </a:rPr>
              <a:t>To analyze the source of the model's incremental returns, we examine its correlation with an adjusted set of Fama-French five factors:</a:t>
            </a:r>
            <a:endParaRPr lang="en-US" altLang="zh-CN" sz="1200">
              <a:latin typeface="Times New Roman" panose="02020603050405020304" charset="0"/>
              <a:cs typeface="Times New Roman" panose="02020603050405020304" charset="0"/>
            </a:endParaRPr>
          </a:p>
          <a:p>
            <a:endParaRPr lang="en-US" altLang="zh-CN" sz="1200">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1.  </a:t>
            </a:r>
            <a:r>
              <a:rPr lang="en-US" altLang="zh-CN" sz="1200" b="1">
                <a:latin typeface="Times New Roman" panose="02020603050405020304" charset="0"/>
                <a:cs typeface="Times New Roman" panose="02020603050405020304" charset="0"/>
              </a:rPr>
              <a:t>Value Factor:</a:t>
            </a:r>
            <a:r>
              <a:rPr lang="en-US" altLang="zh-CN" sz="1200">
                <a:latin typeface="Times New Roman" panose="02020603050405020304" charset="0"/>
                <a:cs typeface="Times New Roman" panose="02020603050405020304" charset="0"/>
              </a:rPr>
              <a:t> The average return of long-short portfolios formed on lagged Book-to-Market (BM) and lagged Earnings-per-Share (EPS), replacing HML. EPS is used instead of Earnings-to-Price as stock price is not a model input.</a:t>
            </a:r>
            <a:endParaRPr lang="en-US" altLang="zh-CN" sz="1200">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2.  </a:t>
            </a:r>
            <a:r>
              <a:rPr lang="en-US" altLang="zh-CN" sz="1200" b="1">
                <a:latin typeface="Times New Roman" panose="02020603050405020304" charset="0"/>
                <a:cs typeface="Times New Roman" panose="02020603050405020304" charset="0"/>
              </a:rPr>
              <a:t>Profitability Factor:</a:t>
            </a:r>
            <a:r>
              <a:rPr lang="en-US" altLang="zh-CN" sz="1200">
                <a:latin typeface="Times New Roman" panose="02020603050405020304" charset="0"/>
                <a:cs typeface="Times New Roman" panose="02020603050405020304" charset="0"/>
              </a:rPr>
              <a:t> The average return of long-short portfolios formed on lagged Operating Profit-to-Book, lagged Accrual-to-Profit (ttm), and lagged Capital Gain, replacing RMW.</a:t>
            </a:r>
            <a:endParaRPr lang="en-US" altLang="zh-CN" sz="1200">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3.  </a:t>
            </a:r>
            <a:r>
              <a:rPr lang="en-US" altLang="zh-CN" sz="1200" b="1">
                <a:latin typeface="Times New Roman" panose="02020603050405020304" charset="0"/>
                <a:cs typeface="Times New Roman" panose="02020603050405020304" charset="0"/>
              </a:rPr>
              <a:t>Investment Factor: </a:t>
            </a:r>
            <a:r>
              <a:rPr lang="en-US" altLang="zh-CN" sz="1200">
                <a:latin typeface="Times New Roman" panose="02020603050405020304" charset="0"/>
                <a:cs typeface="Times New Roman" panose="02020603050405020304" charset="0"/>
              </a:rPr>
              <a:t>The average return of long-short portfolios formed on lagged Asset Growth Rate and lagged Change in Net Operating Assets, replacing CMA.</a:t>
            </a:r>
            <a:endParaRPr lang="en-US" altLang="zh-CN" sz="1200">
              <a:latin typeface="Times New Roman" panose="02020603050405020304" charset="0"/>
              <a:cs typeface="Times New Roman" panose="02020603050405020304" charset="0"/>
            </a:endParaRPr>
          </a:p>
          <a:p>
            <a:endParaRPr lang="en-US" altLang="zh-CN" sz="1200">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Corresponding non-lagged versions of these three factors are also constructed.</a:t>
            </a:r>
            <a:endParaRPr lang="zh-CN" altLang="en-US" sz="1200">
              <a:latin typeface="Times New Roman" panose="02020603050405020304" charset="0"/>
              <a:cs typeface="Times New Roman" panose="020206030504050203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sz="700" kern="0" spc="60" dirty="0">
                <a:solidFill>
                  <a:srgbClr val="FFFFFF">
                    <a:alpha val="100000"/>
                  </a:srgbClr>
                </a:solidFill>
                <a:latin typeface="Arial" panose="020B0604020202020204"/>
                <a:ea typeface="Arial" panose="020B0604020202020204"/>
                <a:cs typeface="Arial" panose="020B0604020202020204"/>
              </a:rPr>
              <a:t>2</a:t>
            </a:r>
            <a:r>
              <a:rPr lang="en-US" sz="700" kern="0" spc="60" dirty="0">
                <a:solidFill>
                  <a:srgbClr val="FFFFFF">
                    <a:alpha val="100000"/>
                  </a:srgbClr>
                </a:solidFill>
                <a:latin typeface="Arial" panose="020B0604020202020204"/>
                <a:ea typeface="Arial" panose="020B0604020202020204"/>
                <a:cs typeface="Arial" panose="020B0604020202020204"/>
              </a:rPr>
              <a:t>7</a:t>
            </a:r>
            <a:endParaRPr lang="en-US" sz="700" kern="0" spc="60" dirty="0">
              <a:solidFill>
                <a:srgbClr val="FFFFFF">
                  <a:alpha val="100000"/>
                </a:srgbClr>
              </a:solidFill>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
        <p:nvSpPr>
          <p:cNvPr id="9"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algn="l" rtl="0" eaLnBrk="0">
              <a:lnSpc>
                <a:spcPct val="86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Where does this incremental performance actually come from?</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5</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Mechanism Test: Interpreting the Model’s Incremental Alpha</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pic>
        <p:nvPicPr>
          <p:cNvPr id="2" name="图片 1"/>
          <p:cNvPicPr>
            <a:picLocks noChangeAspect="1"/>
          </p:cNvPicPr>
          <p:nvPr/>
        </p:nvPicPr>
        <p:blipFill>
          <a:blip r:embed="rId3"/>
          <a:stretch>
            <a:fillRect/>
          </a:stretch>
        </p:blipFill>
        <p:spPr>
          <a:xfrm>
            <a:off x="1273175" y="708025"/>
            <a:ext cx="4505960" cy="2791460"/>
          </a:xfrm>
          <a:prstGeom prst="rect">
            <a:avLst/>
          </a:prstGeom>
        </p:spPr>
      </p:pic>
      <p:sp>
        <p:nvSpPr>
          <p:cNvPr id="5" name="矩形 4"/>
          <p:cNvSpPr/>
          <p:nvPr/>
        </p:nvSpPr>
        <p:spPr>
          <a:xfrm>
            <a:off x="2323465" y="1890395"/>
            <a:ext cx="3232785" cy="323215"/>
          </a:xfrm>
          <a:prstGeom prst="rect">
            <a:avLst/>
          </a:prstGeom>
          <a:noFill/>
          <a:ln w="25400" cmpd="sng">
            <a:solidFill>
              <a:srgbClr val="C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1357630" y="2748280"/>
            <a:ext cx="3606800" cy="190500"/>
          </a:xfrm>
          <a:prstGeom prst="rect">
            <a:avLst/>
          </a:prstGeom>
          <a:noFill/>
          <a:ln w="25400" cmpd="sng">
            <a:solidFill>
              <a:srgbClr val="C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 8"/>
          <p:cNvSpPr/>
          <p:nvPr/>
        </p:nvSpPr>
        <p:spPr>
          <a:xfrm>
            <a:off x="0" y="0"/>
            <a:ext cx="7199998" cy="3959999"/>
          </a:xfrm>
          <a:prstGeom prst="rect">
            <a:avLst/>
          </a:prstGeom>
          <a:solidFill>
            <a:srgbClr val="72256D">
              <a:alpha val="100000"/>
            </a:srgbClr>
          </a:solidFill>
          <a:ln w="0" cap="flat">
            <a:noFill/>
            <a:prstDash val="solid"/>
            <a:miter lim="0"/>
          </a:ln>
        </p:spPr>
        <p:txBody>
          <a:bodyPr rtlCol="0"/>
          <a:lstStyle/>
          <a:p>
            <a:pPr algn="ctr"/>
            <a:endParaRPr lang="zh-CN" altLang="en-US"/>
          </a:p>
        </p:txBody>
      </p:sp>
      <p:sp>
        <p:nvSpPr>
          <p:cNvPr id="10" name="textbox 10"/>
          <p:cNvSpPr/>
          <p:nvPr/>
        </p:nvSpPr>
        <p:spPr>
          <a:xfrm>
            <a:off x="360045" y="925195"/>
            <a:ext cx="3607435" cy="2382520"/>
          </a:xfrm>
          <a:prstGeom prst="rect">
            <a:avLst/>
          </a:prstGeom>
          <a:noFill/>
          <a:ln w="0" cap="flat">
            <a:noFill/>
            <a:prstDash val="solid"/>
            <a:miter lim="0"/>
          </a:ln>
        </p:spPr>
        <p:txBody>
          <a:bodyPr vert="horz" wrap="square" lIns="0" tIns="0" rIns="0" bIns="0"/>
          <a:lstStyle/>
          <a:p>
            <a:pPr algn="l" rtl="0" eaLnBrk="0">
              <a:lnSpc>
                <a:spcPct val="82000"/>
              </a:lnSpc>
            </a:pPr>
            <a:endParaRPr sz="100" kern="100" dirty="0">
              <a:latin typeface="Times New Roman" panose="02020603050405020304" charset="0"/>
              <a:ea typeface="Arial" panose="020B0604020202020204"/>
              <a:cs typeface="Times New Roman" panose="02020603050405020304" charset="0"/>
            </a:endParaRPr>
          </a:p>
          <a:p>
            <a:pPr marL="12700" algn="l" rtl="0" eaLnBrk="0">
              <a:lnSpc>
                <a:spcPct val="97000"/>
              </a:lnSpc>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altLang="zh-CN"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rPr>
              <a:t>Introduction and Background</a:t>
            </a:r>
            <a:endParaRPr lang="en-US" altLang="zh-CN"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97000"/>
              </a:lnSpc>
            </a:pPr>
            <a:endParaRPr sz="1000" kern="100" dirty="0">
              <a:latin typeface="Times New Roman" panose="02020603050405020304" charset="0"/>
              <a:ea typeface="Arial" panose="020B0604020202020204"/>
              <a:cs typeface="Times New Roman" panose="02020603050405020304" charset="0"/>
            </a:endParaRPr>
          </a:p>
          <a:p>
            <a:pPr algn="l" rtl="0" eaLnBrk="0">
              <a:lnSpc>
                <a:spcPct val="124000"/>
              </a:lnSpc>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Data Source and Data Reprocessing</a:t>
            </a:r>
            <a:endParaRPr sz="1000" kern="100" dirty="0">
              <a:latin typeface="Times New Roman" panose="02020603050405020304" charset="0"/>
              <a:ea typeface="Arial" panose="020B0604020202020204"/>
              <a:cs typeface="Times New Roman" panose="02020603050405020304" charset="0"/>
            </a:endParaRPr>
          </a:p>
          <a:p>
            <a:pPr algn="l" rtl="0" eaLnBrk="0">
              <a:lnSpc>
                <a:spcPct val="124000"/>
              </a:lnSpc>
            </a:pP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2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Base Hypothesis Testing</a:t>
            </a: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algn="l" rtl="0" eaLnBrk="0">
              <a:lnSpc>
                <a:spcPct val="124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Two-stage Model</a:t>
            </a: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rPr>
              <a:t>▶ </a:t>
            </a:r>
            <a:r>
              <a:rPr lang="en-US" altLang="zh-CN"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rPr>
              <a:t>Mechanism Test: Interpreting the Model’s Incremental Alpha</a:t>
            </a:r>
            <a:endParaRPr sz="1000" kern="100" dirty="0">
              <a:latin typeface="Times New Roman" panose="02020603050405020304" charset="0"/>
              <a:ea typeface="Arial" panose="020B0604020202020204"/>
              <a:cs typeface="Times New Roman" panose="02020603050405020304" charset="0"/>
            </a:endParaRPr>
          </a:p>
          <a:p>
            <a:pPr algn="l" rtl="0" eaLnBrk="0">
              <a:lnSpc>
                <a:spcPct val="129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sym typeface="+mn-ea"/>
              </a:rPr>
              <a:t>Conclusion</a:t>
            </a:r>
            <a:endParaRPr sz="1000" kern="100" dirty="0">
              <a:solidFill>
                <a:schemeClr val="bg1"/>
              </a:solidFill>
              <a:latin typeface="Times New Roman" panose="02020603050405020304" charset="0"/>
              <a:ea typeface="Arial" panose="020B0604020202020204"/>
              <a:cs typeface="Times New Roman" panose="02020603050405020304" charset="0"/>
            </a:endParaRPr>
          </a:p>
          <a:p>
            <a:pPr algn="l" rtl="0" eaLnBrk="0">
              <a:lnSpc>
                <a:spcPct val="125000"/>
              </a:lnSpc>
            </a:pPr>
            <a:endParaRPr sz="1000" kern="100" dirty="0">
              <a:latin typeface="Times New Roman" panose="02020603050405020304" charset="0"/>
              <a:ea typeface="Arial" panose="020B0604020202020204"/>
              <a:cs typeface="Times New Roman" panose="02020603050405020304" charset="0"/>
            </a:endParaRPr>
          </a:p>
          <a:p>
            <a:pPr marL="12700" algn="l" rtl="0" eaLnBrk="0">
              <a:lnSpc>
                <a:spcPct val="82000"/>
              </a:lnSpc>
              <a:spcBef>
                <a:spcPts val="0"/>
              </a:spcBef>
            </a:pPr>
            <a:r>
              <a:rPr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 </a:t>
            </a:r>
            <a:r>
              <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sym typeface="+mn-ea"/>
              </a:rPr>
              <a:t>Q&amp;A</a:t>
            </a: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a:p>
            <a:pPr marL="12700" algn="l" rtl="0" eaLnBrk="0">
              <a:lnSpc>
                <a:spcPct val="82000"/>
              </a:lnSpc>
              <a:spcBef>
                <a:spcPts val="0"/>
              </a:spcBef>
            </a:pPr>
            <a:endParaRPr lang="en-US" sz="1000" kern="100" dirty="0">
              <a:solidFill>
                <a:srgbClr val="8E518A">
                  <a:alpha val="100000"/>
                </a:srgbClr>
              </a:solidFill>
              <a:latin typeface="Times New Roman" panose="02020603050405020304" charset="0"/>
              <a:ea typeface="Malgun Gothic" panose="020B0503020000020004" charset="-127"/>
              <a:cs typeface="Times New Roman" panose="02020603050405020304" charset="0"/>
            </a:endParaRPr>
          </a:p>
        </p:txBody>
      </p:sp>
      <p:sp>
        <p:nvSpPr>
          <p:cNvPr id="12" name="textbox 12"/>
          <p:cNvSpPr/>
          <p:nvPr/>
        </p:nvSpPr>
        <p:spPr>
          <a:xfrm>
            <a:off x="966764" y="273083"/>
            <a:ext cx="1807845" cy="3175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Times New Roman" panose="02020603050405020304" charset="0"/>
              <a:ea typeface="Arial" panose="020B0604020202020204"/>
              <a:cs typeface="Times New Roman" panose="02020603050405020304" charset="0"/>
            </a:endParaRPr>
          </a:p>
          <a:p>
            <a:pPr marL="12700" algn="l" rtl="0" eaLnBrk="0">
              <a:lnSpc>
                <a:spcPct val="74000"/>
              </a:lnSpc>
            </a:pP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Table</a:t>
            </a:r>
            <a:r>
              <a:rPr sz="1400" b="1" kern="0" spc="210" dirty="0">
                <a:solidFill>
                  <a:srgbClr val="FFFFFF">
                    <a:alpha val="100000"/>
                  </a:srgbClr>
                </a:solidFill>
                <a:latin typeface="Times New Roman" panose="02020603050405020304" charset="0"/>
                <a:ea typeface="Arial" panose="020B0604020202020204"/>
                <a:cs typeface="Times New Roman" panose="02020603050405020304" charset="0"/>
              </a:rPr>
              <a:t> </a:t>
            </a: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of</a:t>
            </a:r>
            <a:r>
              <a:rPr sz="1400" b="1" kern="0" spc="130" dirty="0">
                <a:solidFill>
                  <a:srgbClr val="FFFFFF">
                    <a:alpha val="100000"/>
                  </a:srgbClr>
                </a:solidFill>
                <a:latin typeface="Times New Roman" panose="02020603050405020304" charset="0"/>
                <a:ea typeface="Arial" panose="020B0604020202020204"/>
                <a:cs typeface="Times New Roman" panose="02020603050405020304" charset="0"/>
              </a:rPr>
              <a:t> </a:t>
            </a:r>
            <a:r>
              <a:rPr sz="1400" b="1" kern="0" spc="20" dirty="0">
                <a:solidFill>
                  <a:srgbClr val="FFFFFF">
                    <a:alpha val="100000"/>
                  </a:srgbClr>
                </a:solidFill>
                <a:latin typeface="Times New Roman" panose="02020603050405020304" charset="0"/>
                <a:ea typeface="Arial" panose="020B0604020202020204"/>
                <a:cs typeface="Times New Roman" panose="02020603050405020304" charset="0"/>
              </a:rPr>
              <a:t>Contents</a:t>
            </a:r>
            <a:endParaRPr sz="1400" dirty="0">
              <a:latin typeface="Times New Roman" panose="02020603050405020304" charset="0"/>
              <a:ea typeface="Arial" panose="020B0604020202020204"/>
              <a:cs typeface="Times New Roman" panose="02020603050405020304" charset="0"/>
            </a:endParaRPr>
          </a:p>
          <a:p>
            <a:pPr marL="15240" algn="l" rtl="0" eaLnBrk="0">
              <a:lnSpc>
                <a:spcPct val="87000"/>
              </a:lnSpc>
              <a:spcBef>
                <a:spcPts val="220"/>
              </a:spcBef>
            </a:pPr>
            <a:r>
              <a:rPr lang="en-US"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rPr>
              <a:t>6</a:t>
            </a:r>
            <a:r>
              <a:rPr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rPr>
              <a:t>  </a:t>
            </a:r>
            <a:r>
              <a:rPr lang="en-US" sz="800" kern="100" dirty="0">
                <a:solidFill>
                  <a:schemeClr val="bg1">
                    <a:alpha val="100000"/>
                  </a:schemeClr>
                </a:solidFill>
                <a:latin typeface="Times New Roman" panose="02020603050405020304" charset="0"/>
                <a:ea typeface="Malgun Gothic" panose="020B0503020000020004" charset="-127"/>
                <a:cs typeface="Times New Roman" panose="02020603050405020304" charset="0"/>
                <a:sym typeface="+mn-ea"/>
              </a:rPr>
              <a:t>Conclusion</a:t>
            </a:r>
            <a:endParaRPr lang="en-US" sz="800" kern="0" spc="40" dirty="0">
              <a:solidFill>
                <a:srgbClr val="FFFFFF">
                  <a:alpha val="100000"/>
                </a:srgbClr>
              </a:solidFill>
              <a:latin typeface="Times New Roman" panose="02020603050405020304" charset="0"/>
              <a:ea typeface="Palatino Linotype" panose="02040502050505030304"/>
              <a:cs typeface="Times New Roman" panose="02020603050405020304" charset="0"/>
            </a:endParaRPr>
          </a:p>
        </p:txBody>
      </p:sp>
      <p:pic>
        <p:nvPicPr>
          <p:cNvPr id="14" name="picture 14"/>
          <p:cNvPicPr>
            <a:picLocks noChangeAspect="1"/>
          </p:cNvPicPr>
          <p:nvPr/>
        </p:nvPicPr>
        <p:blipFill>
          <a:blip r:embed="rId1"/>
          <a:stretch>
            <a:fillRect/>
          </a:stretch>
        </p:blipFill>
        <p:spPr>
          <a:xfrm rot="21600000">
            <a:off x="360019" y="1"/>
            <a:ext cx="504052" cy="599997"/>
          </a:xfrm>
          <a:prstGeom prst="rect">
            <a:avLst/>
          </a:prstGeom>
        </p:spPr>
      </p:pic>
      <p:sp>
        <p:nvSpPr>
          <p:cNvPr id="16" name="textbox 16"/>
          <p:cNvSpPr/>
          <p:nvPr/>
        </p:nvSpPr>
        <p:spPr>
          <a:xfrm>
            <a:off x="352658" y="3763384"/>
            <a:ext cx="235584" cy="12700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sz="700" kern="0" spc="60" dirty="0">
                <a:solidFill>
                  <a:srgbClr val="FFFFFF">
                    <a:alpha val="100000"/>
                  </a:srgbClr>
                </a:solidFill>
                <a:latin typeface="Arial" panose="020B0604020202020204"/>
                <a:ea typeface="Arial" panose="020B0604020202020204"/>
                <a:cs typeface="Arial" panose="020B0604020202020204"/>
              </a:rPr>
              <a:t>2</a:t>
            </a:r>
            <a:r>
              <a:rPr lang="en-US" sz="700" kern="0" spc="60" dirty="0">
                <a:solidFill>
                  <a:srgbClr val="FFFFFF">
                    <a:alpha val="100000"/>
                  </a:srgbClr>
                </a:solidFill>
                <a:latin typeface="Arial" panose="020B0604020202020204"/>
                <a:ea typeface="Arial" panose="020B0604020202020204"/>
                <a:cs typeface="Arial" panose="020B0604020202020204"/>
              </a:rPr>
              <a:t>8</a:t>
            </a:r>
            <a:endParaRPr lang="en-US" sz="700" kern="0" spc="60" dirty="0">
              <a:solidFill>
                <a:srgbClr val="FFFFFF">
                  <a:alpha val="100000"/>
                </a:srgbClr>
              </a:solidFill>
              <a:latin typeface="Arial" panose="020B0604020202020204"/>
              <a:ea typeface="Arial" panose="020B0604020202020204"/>
              <a:cs typeface="Arial" panose="020B0604020202020204"/>
            </a:endParaRPr>
          </a:p>
        </p:txBody>
      </p:sp>
      <p:pic>
        <p:nvPicPr>
          <p:cNvPr id="5" name="图片 4"/>
          <p:cNvPicPr>
            <a:picLocks noChangeAspect="1"/>
          </p:cNvPicPr>
          <p:nvPr/>
        </p:nvPicPr>
        <p:blipFill>
          <a:blip r:embed="rId2"/>
          <a:stretch>
            <a:fillRect/>
          </a:stretch>
        </p:blipFill>
        <p:spPr>
          <a:xfrm>
            <a:off x="360045" y="635"/>
            <a:ext cx="505460" cy="5994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sz="700" kern="0" spc="60" dirty="0">
                <a:solidFill>
                  <a:srgbClr val="FFFFFF">
                    <a:alpha val="100000"/>
                  </a:srgbClr>
                </a:solidFill>
                <a:latin typeface="Arial" panose="020B0604020202020204"/>
                <a:ea typeface="Arial" panose="020B0604020202020204"/>
                <a:cs typeface="Arial" panose="020B0604020202020204"/>
              </a:rPr>
              <a:t>2</a:t>
            </a:r>
            <a:r>
              <a:rPr lang="en-US" sz="700" kern="0" spc="60" dirty="0">
                <a:solidFill>
                  <a:srgbClr val="FFFFFF">
                    <a:alpha val="100000"/>
                  </a:srgbClr>
                </a:solidFill>
                <a:latin typeface="Arial" panose="020B0604020202020204"/>
                <a:ea typeface="Arial" panose="020B0604020202020204"/>
                <a:cs typeface="Arial" panose="020B0604020202020204"/>
              </a:rPr>
              <a:t>9</a:t>
            </a:r>
            <a:endParaRPr lang="en-US" sz="700" kern="0" spc="60" dirty="0">
              <a:solidFill>
                <a:srgbClr val="FFFFFF">
                  <a:alpha val="100000"/>
                </a:srgbClr>
              </a:solidFill>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
        <p:nvSpPr>
          <p:cNvPr id="9"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Key Findings</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6</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rPr>
              <a:t>Conclusion</a:t>
            </a:r>
            <a:endPar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sp>
        <p:nvSpPr>
          <p:cNvPr id="4" name="文本框 3"/>
          <p:cNvSpPr txBox="1"/>
          <p:nvPr/>
        </p:nvSpPr>
        <p:spPr>
          <a:xfrm>
            <a:off x="351155" y="2073910"/>
            <a:ext cx="6848475" cy="1321435"/>
          </a:xfrm>
          <a:prstGeom prst="rect">
            <a:avLst/>
          </a:prstGeom>
        </p:spPr>
        <p:txBody>
          <a:bodyPr wrap="square">
            <a:spAutoFit/>
          </a:bodyPr>
          <a:p>
            <a:pPr>
              <a:spcAft>
                <a:spcPct val="60000"/>
              </a:spcAft>
            </a:pPr>
            <a:r>
              <a:rPr lang="en-US" altLang="zh-CN" sz="1200" b="1">
                <a:latin typeface="Times New Roman" panose="02020603050405020304" charset="0"/>
                <a:cs typeface="Times New Roman" panose="02020603050405020304" charset="0"/>
              </a:rPr>
              <a:t>Main Results</a:t>
            </a:r>
            <a:endParaRPr lang="en-US" altLang="zh-CN" sz="1200" b="1">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Two-stage MLP consistently outperforms the contemporaneous baseline</a:t>
            </a:r>
            <a:endParaRPr lang="en-US" altLang="zh-CN" sz="1200">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Performance gain is economically meaningful, not just statistical</a:t>
            </a:r>
            <a:endParaRPr lang="en-US" altLang="zh-CN" sz="1200">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Predicted fundamentals create forward-looking signals</a:t>
            </a:r>
            <a:endParaRPr lang="en-US" altLang="zh-CN" sz="1200">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Model’s excess returns show stronger alignment with ex-post realized fundamentals vs. lagged ones</a:t>
            </a:r>
            <a:endParaRPr lang="en-US" altLang="zh-CN" sz="1200">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Evidence indicates the model implicitly anticipates future firm conditions</a:t>
            </a:r>
            <a:endParaRPr lang="en-US" altLang="zh-CN" sz="1200">
              <a:latin typeface="Times New Roman" panose="02020603050405020304" charset="0"/>
              <a:cs typeface="Times New Roman" panose="02020603050405020304" charset="0"/>
            </a:endParaRPr>
          </a:p>
        </p:txBody>
      </p:sp>
      <p:sp>
        <p:nvSpPr>
          <p:cNvPr id="6" name="文本框 5"/>
          <p:cNvSpPr txBox="1"/>
          <p:nvPr/>
        </p:nvSpPr>
        <p:spPr>
          <a:xfrm>
            <a:off x="360045" y="937895"/>
            <a:ext cx="6560820" cy="767715"/>
          </a:xfrm>
          <a:prstGeom prst="rect">
            <a:avLst/>
          </a:prstGeom>
        </p:spPr>
        <p:txBody>
          <a:bodyPr wrap="square">
            <a:spAutoFit/>
          </a:bodyPr>
          <a:p>
            <a:pPr>
              <a:spcAft>
                <a:spcPct val="60000"/>
              </a:spcAft>
            </a:pPr>
            <a:r>
              <a:rPr lang="en-US" altLang="zh-CN" sz="1200" b="1">
                <a:latin typeface="Times New Roman" panose="02020603050405020304" charset="0"/>
                <a:cs typeface="Times New Roman" panose="02020603050405020304" charset="0"/>
              </a:rPr>
              <a:t>Project Objective</a:t>
            </a:r>
            <a:endParaRPr lang="en-US" altLang="zh-CN" sz="1200" b="1">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Address the information lag in traditional cross-sectional multi-factor models</a:t>
            </a:r>
            <a:endParaRPr lang="en-US" altLang="zh-CN" sz="1200">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Introduce a two-stage MLP framework that first predicts future fundamentals, then predicts returns</a:t>
            </a:r>
            <a:endParaRPr lang="en-US" altLang="zh-CN" sz="1200">
              <a:latin typeface="Times New Roman" panose="02020603050405020304" charset="0"/>
              <a:cs typeface="Times New Roman" panose="0202060305040502030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30</a:t>
            </a:r>
            <a:endParaRPr lang="en-US" sz="700" kern="0" spc="60" dirty="0">
              <a:solidFill>
                <a:srgbClr val="FFFFFF">
                  <a:alpha val="100000"/>
                </a:srgbClr>
              </a:solidFill>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
        <p:nvSpPr>
          <p:cNvPr id="9"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Contributions &amp; Implications</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6</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Conclusion</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sp>
        <p:nvSpPr>
          <p:cNvPr id="5" name="文本框 4"/>
          <p:cNvSpPr txBox="1"/>
          <p:nvPr/>
        </p:nvSpPr>
        <p:spPr>
          <a:xfrm>
            <a:off x="749300" y="981392"/>
            <a:ext cx="5080000" cy="1998345"/>
          </a:xfrm>
          <a:prstGeom prst="rect">
            <a:avLst/>
          </a:prstGeom>
        </p:spPr>
        <p:txBody>
          <a:bodyPr>
            <a:spAutoFit/>
          </a:bodyPr>
          <a:p>
            <a:pPr>
              <a:spcAft>
                <a:spcPct val="60000"/>
              </a:spcAft>
            </a:pPr>
            <a:r>
              <a:rPr lang="en-US" altLang="zh-CN" sz="1200" b="1">
                <a:latin typeface="Times New Roman" panose="02020603050405020304" charset="0"/>
                <a:cs typeface="Times New Roman" panose="02020603050405020304" charset="0"/>
              </a:rPr>
              <a:t>Methodological Contributions</a:t>
            </a:r>
            <a:endParaRPr lang="en-US" altLang="zh-CN" sz="1200" b="1">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Provides a simple but effective way to modernize factor models</a:t>
            </a:r>
            <a:endParaRPr lang="en-US" altLang="zh-CN" sz="1200">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Moves beyond lagged accounting data by integrating fundamental forecasting</a:t>
            </a:r>
            <a:endParaRPr lang="en-US" altLang="zh-CN" sz="1200">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Offers a transparent ML-based enhancement to traditional asset pricing</a:t>
            </a:r>
            <a:endParaRPr lang="en-US" altLang="zh-CN" sz="1200">
              <a:latin typeface="Times New Roman" panose="02020603050405020304" charset="0"/>
              <a:cs typeface="Times New Roman" panose="02020603050405020304" charset="0"/>
            </a:endParaRPr>
          </a:p>
          <a:p>
            <a:pPr>
              <a:buFont typeface="Arial" panose="020B0604020202020204"/>
              <a:buChar char="•"/>
            </a:pPr>
            <a:endParaRPr lang="en-US" altLang="zh-CN" sz="1200">
              <a:latin typeface="Times New Roman" panose="02020603050405020304" charset="0"/>
              <a:cs typeface="Times New Roman" panose="02020603050405020304" charset="0"/>
            </a:endParaRPr>
          </a:p>
          <a:p>
            <a:pPr>
              <a:spcAft>
                <a:spcPct val="60000"/>
              </a:spcAft>
            </a:pPr>
            <a:r>
              <a:rPr lang="en-US" altLang="zh-CN" sz="1200" b="1">
                <a:latin typeface="Times New Roman" panose="02020603050405020304" charset="0"/>
                <a:cs typeface="Times New Roman" panose="02020603050405020304" charset="0"/>
              </a:rPr>
              <a:t>Practical Contributions</a:t>
            </a:r>
            <a:endParaRPr lang="en-US" altLang="zh-CN" sz="1200" b="1">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Generates significant alpha compared to direct MLP prediction</a:t>
            </a:r>
            <a:endParaRPr lang="en-US" altLang="zh-CN" sz="1200">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Links model performance to economic intuition:</a:t>
            </a:r>
            <a:endParaRPr lang="en-US" altLang="zh-CN" sz="1200">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 → Alpha arises from pricing future fundamentals early</a:t>
            </a:r>
            <a:endParaRPr lang="en-US" altLang="zh-CN" sz="1200">
              <a:latin typeface="Times New Roman" panose="02020603050405020304" charset="0"/>
              <a:cs typeface="Times New Roman" panose="020206030504050203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0" y="3672001"/>
            <a:ext cx="7200265" cy="288290"/>
          </a:xfrm>
          <a:prstGeom prst="rect">
            <a:avLst/>
          </a:prstGeom>
          <a:solidFill>
            <a:srgbClr val="72256D">
              <a:alpha val="100000"/>
            </a:srgbClr>
          </a:solidFill>
          <a:ln w="0" cap="flat">
            <a:noFill/>
            <a:prstDash val="solid"/>
            <a:miter lim="0"/>
          </a:ln>
        </p:spPr>
        <p:txBody>
          <a:bodyPr vert="horz" wrap="square" lIns="0" tIns="0" rIns="0" bIns="0"/>
          <a:lstStyle/>
          <a:p>
            <a:pPr algn="l" rtl="0" eaLnBrk="0">
              <a:lnSpc>
                <a:spcPct val="113000"/>
              </a:lnSpc>
            </a:pPr>
            <a:endParaRPr sz="600" dirty="0">
              <a:latin typeface="Arial" panose="020B0604020202020204"/>
              <a:ea typeface="Arial" panose="020B0604020202020204"/>
              <a:cs typeface="Arial" panose="020B0604020202020204"/>
            </a:endParaRPr>
          </a:p>
          <a:p>
            <a:pPr marL="4924425" algn="l" rtl="0" eaLnBrk="0">
              <a:lnSpc>
                <a:spcPct val="95000"/>
              </a:lnSpc>
              <a:spcBef>
                <a:spcPts val="5"/>
              </a:spcBef>
            </a:pPr>
            <a:r>
              <a:rPr sz="700" kern="0" spc="50" dirty="0">
                <a:solidFill>
                  <a:srgbClr val="FFFFFF">
                    <a:alpha val="100000"/>
                  </a:srgbClr>
                </a:solidFill>
                <a:latin typeface="Arial" panose="020B0604020202020204"/>
                <a:ea typeface="Arial" panose="020B0604020202020204"/>
                <a:cs typeface="Arial" panose="020B0604020202020204"/>
              </a:rPr>
              <a:t>®</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2024 –</a:t>
            </a:r>
            <a:r>
              <a:rPr sz="700" kern="0" spc="12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2025</a:t>
            </a:r>
            <a:r>
              <a:rPr sz="700" kern="0" spc="130" dirty="0">
                <a:solidFill>
                  <a:srgbClr val="FFFFFF">
                    <a:alpha val="100000"/>
                  </a:srgbClr>
                </a:solidFill>
                <a:latin typeface="Arial" panose="020B0604020202020204"/>
                <a:ea typeface="Arial" panose="020B0604020202020204"/>
                <a:cs typeface="Arial" panose="020B0604020202020204"/>
              </a:rPr>
              <a:t> </a:t>
            </a:r>
            <a:r>
              <a:rPr lang="en-US" sz="700" kern="0" spc="50" dirty="0">
                <a:solidFill>
                  <a:srgbClr val="FFFFFF">
                    <a:alpha val="100000"/>
                  </a:srgbClr>
                </a:solidFill>
                <a:latin typeface="Arial" panose="020B0604020202020204"/>
                <a:ea typeface="Arial" panose="020B0604020202020204"/>
                <a:cs typeface="Arial" panose="020B0604020202020204"/>
              </a:rPr>
              <a:t>Group 6</a:t>
            </a:r>
            <a:r>
              <a:rPr sz="700" kern="0" spc="60" dirty="0">
                <a:solidFill>
                  <a:srgbClr val="FFFFFF">
                    <a:alpha val="100000"/>
                  </a:srgbClr>
                </a:solidFill>
                <a:latin typeface="Arial" panose="020B0604020202020204"/>
                <a:ea typeface="Arial" panose="020B0604020202020204"/>
                <a:cs typeface="Arial" panose="020B0604020202020204"/>
              </a:rPr>
              <a:t>  </a:t>
            </a:r>
            <a:r>
              <a:rPr sz="700" kern="0" spc="50" dirty="0">
                <a:solidFill>
                  <a:srgbClr val="FFFFFF">
                    <a:alpha val="100000"/>
                  </a:srgbClr>
                </a:solidFill>
                <a:latin typeface="Arial" panose="020B0604020202020204"/>
                <a:ea typeface="Arial" panose="020B0604020202020204"/>
                <a:cs typeface="Arial" panose="020B0604020202020204"/>
              </a:rPr>
              <a:t>|</a:t>
            </a:r>
            <a:r>
              <a:rPr sz="700" kern="0" spc="80" dirty="0">
                <a:solidFill>
                  <a:srgbClr val="FFFFFF">
                    <a:alpha val="100000"/>
                  </a:srgbClr>
                </a:solidFill>
                <a:latin typeface="Arial" panose="020B0604020202020204"/>
                <a:ea typeface="Arial" panose="020B0604020202020204"/>
                <a:cs typeface="Arial" panose="020B0604020202020204"/>
              </a:rPr>
              <a:t>  </a:t>
            </a:r>
            <a:r>
              <a:rPr lang="en-US" sz="700" kern="0" spc="40" dirty="0">
                <a:solidFill>
                  <a:srgbClr val="FFFFFF">
                    <a:alpha val="100000"/>
                  </a:srgbClr>
                </a:solidFill>
                <a:latin typeface="Arial" panose="020B0604020202020204"/>
                <a:ea typeface="Arial" panose="020B0604020202020204"/>
                <a:cs typeface="Arial" panose="020B0604020202020204"/>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p:txBody>
      </p:sp>
      <p:pic>
        <p:nvPicPr>
          <p:cNvPr id="26" name="picture 26"/>
          <p:cNvPicPr>
            <a:picLocks noChangeAspect="1"/>
          </p:cNvPicPr>
          <p:nvPr/>
        </p:nvPicPr>
        <p:blipFill>
          <a:blip r:embed="rId1"/>
          <a:stretch>
            <a:fillRect/>
          </a:stretch>
        </p:blipFill>
        <p:spPr>
          <a:xfrm rot="21600000">
            <a:off x="360019" y="1"/>
            <a:ext cx="504052" cy="599997"/>
          </a:xfrm>
          <a:prstGeom prst="rect">
            <a:avLst/>
          </a:prstGeom>
        </p:spPr>
      </p:pic>
      <p:sp>
        <p:nvSpPr>
          <p:cNvPr id="28" name="textbox 28"/>
          <p:cNvSpPr/>
          <p:nvPr/>
        </p:nvSpPr>
        <p:spPr>
          <a:xfrm>
            <a:off x="351790" y="3763645"/>
            <a:ext cx="324485" cy="1206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31</a:t>
            </a:r>
            <a:endParaRPr lang="en-US" sz="700" kern="0" spc="60" dirty="0">
              <a:solidFill>
                <a:srgbClr val="FFFFFF">
                  <a:alpha val="100000"/>
                </a:srgbClr>
              </a:solidFill>
              <a:latin typeface="Arial" panose="020B0604020202020204"/>
              <a:ea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360045" y="0"/>
            <a:ext cx="503555" cy="598170"/>
          </a:xfrm>
          <a:prstGeom prst="rect">
            <a:avLst/>
          </a:prstGeom>
        </p:spPr>
      </p:pic>
      <p:sp>
        <p:nvSpPr>
          <p:cNvPr id="9" name="textbox 24"/>
          <p:cNvSpPr/>
          <p:nvPr/>
        </p:nvSpPr>
        <p:spPr>
          <a:xfrm>
            <a:off x="963295" y="273050"/>
            <a:ext cx="5956935" cy="317500"/>
          </a:xfrm>
          <a:prstGeom prst="rect">
            <a:avLst/>
          </a:prstGeom>
          <a:noFill/>
          <a:ln w="0" cap="flat">
            <a:noFill/>
            <a:prstDash val="solid"/>
            <a:miter lim="0"/>
          </a:ln>
        </p:spPr>
        <p:txBody>
          <a:bodyPr vert="horz" wrap="square" lIns="0" tIns="0" rIns="0" bIns="0"/>
          <a:lstStyle/>
          <a:p>
            <a:pPr marL="12700" algn="l" rtl="0" eaLnBrk="0">
              <a:lnSpc>
                <a:spcPct val="78000"/>
              </a:lnSpc>
            </a:pPr>
            <a:r>
              <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rPr>
              <a:t>Limitations &amp; Future Research</a:t>
            </a:r>
            <a:endParaRPr lang="en-US" altLang="zh-CN" sz="1400" b="1" kern="0" spc="30" dirty="0">
              <a:solidFill>
                <a:srgbClr val="72256D">
                  <a:alpha val="100000"/>
                </a:srgbClr>
              </a:solidFill>
              <a:latin typeface="Times New Roman" panose="02020603050405020304" charset="0"/>
              <a:ea typeface="Arial" panose="020B0604020202020204"/>
              <a:cs typeface="Times New Roman" panose="02020603050405020304" charset="0"/>
            </a:endParaRPr>
          </a:p>
          <a:p>
            <a:pPr marL="12700" algn="l" rtl="0" eaLnBrk="0">
              <a:lnSpc>
                <a:spcPct val="78000"/>
              </a:lnSpc>
            </a:pPr>
            <a:r>
              <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6</a:t>
            </a:r>
            <a:r>
              <a:rPr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  </a:t>
            </a:r>
            <a:r>
              <a:rPr lang="en-US" altLang="zh-CN"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sym typeface="+mn-ea"/>
              </a:rPr>
              <a:t>Conclusion</a:t>
            </a:r>
            <a:endParaRPr lang="en-US" sz="800" kern="0" spc="40" dirty="0">
              <a:solidFill>
                <a:srgbClr val="72256D">
                  <a:alpha val="100000"/>
                </a:srgbClr>
              </a:solidFill>
              <a:latin typeface="Times New Roman" panose="02020603050405020304" charset="0"/>
              <a:ea typeface="Palatino Linotype" panose="02040502050505030304"/>
              <a:cs typeface="Times New Roman" panose="02020603050405020304" charset="0"/>
            </a:endParaRPr>
          </a:p>
        </p:txBody>
      </p:sp>
      <p:sp>
        <p:nvSpPr>
          <p:cNvPr id="2" name="文本框 1"/>
          <p:cNvSpPr txBox="1"/>
          <p:nvPr/>
        </p:nvSpPr>
        <p:spPr>
          <a:xfrm>
            <a:off x="864235" y="888365"/>
            <a:ext cx="5080000" cy="2182495"/>
          </a:xfrm>
          <a:prstGeom prst="rect">
            <a:avLst/>
          </a:prstGeom>
        </p:spPr>
        <p:txBody>
          <a:bodyPr>
            <a:spAutoFit/>
          </a:bodyPr>
          <a:p>
            <a:pPr>
              <a:spcAft>
                <a:spcPct val="60000"/>
              </a:spcAft>
            </a:pPr>
            <a:r>
              <a:rPr lang="en-US" altLang="zh-CN" sz="1200" b="1">
                <a:latin typeface="Times New Roman" panose="02020603050405020304" charset="0"/>
                <a:cs typeface="Times New Roman" panose="02020603050405020304" charset="0"/>
              </a:rPr>
              <a:t>Limitations</a:t>
            </a:r>
            <a:endParaRPr lang="en-US" altLang="zh-CN" sz="1200" b="1">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Only a limited set of fundamentals were modeled</a:t>
            </a:r>
            <a:endParaRPr lang="en-US" altLang="zh-CN" sz="1200">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Architecture restricted to MLP</a:t>
            </a:r>
            <a:endParaRPr lang="en-US" altLang="zh-CN" sz="1200">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Mechanism analysis could be deeper</a:t>
            </a:r>
            <a:endParaRPr lang="en-US" altLang="zh-CN" sz="1200">
              <a:latin typeface="Times New Roman" panose="02020603050405020304" charset="0"/>
              <a:cs typeface="Times New Roman" panose="02020603050405020304" charset="0"/>
            </a:endParaRPr>
          </a:p>
          <a:p>
            <a:pPr>
              <a:buFont typeface="Arial" panose="020B0604020202020204"/>
              <a:buChar char="•"/>
            </a:pPr>
            <a:endParaRPr lang="en-US" altLang="zh-CN" sz="1200">
              <a:latin typeface="Times New Roman" panose="02020603050405020304" charset="0"/>
              <a:cs typeface="Times New Roman" panose="02020603050405020304" charset="0"/>
            </a:endParaRPr>
          </a:p>
          <a:p>
            <a:pPr>
              <a:spcAft>
                <a:spcPct val="60000"/>
              </a:spcAft>
            </a:pPr>
            <a:r>
              <a:rPr lang="en-US" altLang="zh-CN" sz="1200" b="1">
                <a:latin typeface="Times New Roman" panose="02020603050405020304" charset="0"/>
                <a:cs typeface="Times New Roman" panose="02020603050405020304" charset="0"/>
              </a:rPr>
              <a:t>Future Directions</a:t>
            </a:r>
            <a:endParaRPr lang="en-US" altLang="zh-CN" sz="1200" b="1">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Forecast more types of fundamentals (e.g., cash flows, revenue, margins)</a:t>
            </a:r>
            <a:endParaRPr lang="en-US" altLang="zh-CN" sz="1200">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Explore advanced ML models (RNNs, Transformers, GNNs)</a:t>
            </a:r>
            <a:endParaRPr lang="en-US" altLang="zh-CN" sz="1200">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Conduct detailed feature-importance/attribution analysis</a:t>
            </a:r>
            <a:endParaRPr lang="en-US" altLang="zh-CN" sz="1200">
              <a:latin typeface="Times New Roman" panose="02020603050405020304" charset="0"/>
              <a:cs typeface="Times New Roman" panose="02020603050405020304" charset="0"/>
            </a:endParaRPr>
          </a:p>
          <a:p>
            <a:pPr>
              <a:buFont typeface="Arial" panose="020B0604020202020204"/>
              <a:buChar char="•"/>
            </a:pPr>
            <a:r>
              <a:rPr lang="en-US" altLang="zh-CN" sz="1200">
                <a:latin typeface="Times New Roman" panose="02020603050405020304" charset="0"/>
                <a:cs typeface="Times New Roman" panose="02020603050405020304" charset="0"/>
              </a:rPr>
              <a:t>Test robustness across market regimes and include trading frictions</a:t>
            </a:r>
            <a:endParaRPr lang="en-US" altLang="zh-CN" sz="1200">
              <a:latin typeface="Times New Roman" panose="02020603050405020304" charset="0"/>
              <a:cs typeface="Times New Roman" panose="020206030504050203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rect 256"/>
          <p:cNvSpPr/>
          <p:nvPr/>
        </p:nvSpPr>
        <p:spPr>
          <a:xfrm>
            <a:off x="0" y="0"/>
            <a:ext cx="7199998" cy="3959999"/>
          </a:xfrm>
          <a:prstGeom prst="rect">
            <a:avLst/>
          </a:prstGeom>
          <a:solidFill>
            <a:srgbClr val="72256D">
              <a:alpha val="100000"/>
            </a:srgbClr>
          </a:solidFill>
          <a:ln w="0" cap="flat">
            <a:noFill/>
            <a:prstDash val="solid"/>
            <a:miter lim="0"/>
          </a:ln>
        </p:spPr>
        <p:txBody>
          <a:bodyPr rtlCol="0"/>
          <a:lstStyle/>
          <a:p>
            <a:pPr algn="ctr"/>
            <a:endParaRPr lang="zh-CN" altLang="en-US"/>
          </a:p>
        </p:txBody>
      </p:sp>
      <p:sp>
        <p:nvSpPr>
          <p:cNvPr id="258" name="textbox 258"/>
          <p:cNvSpPr/>
          <p:nvPr/>
        </p:nvSpPr>
        <p:spPr>
          <a:xfrm>
            <a:off x="2945765" y="1581150"/>
            <a:ext cx="4215765" cy="2460625"/>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a:ea typeface="Arial" panose="020B0604020202020204"/>
              <a:cs typeface="Arial" panose="020B0604020202020204"/>
            </a:endParaRPr>
          </a:p>
          <a:p>
            <a:pPr algn="l" rtl="0" eaLnBrk="0">
              <a:lnSpc>
                <a:spcPct val="115000"/>
              </a:lnSpc>
            </a:pPr>
            <a:r>
              <a:rPr lang="en-US" sz="2400" kern="0" spc="-20" dirty="0">
                <a:solidFill>
                  <a:srgbClr val="FFFFFF">
                    <a:alpha val="100000"/>
                  </a:srgbClr>
                </a:solidFill>
                <a:latin typeface="Times New Roman" panose="02020603050405020304" charset="0"/>
                <a:ea typeface="Arial" panose="020B0604020202020204"/>
                <a:cs typeface="Times New Roman" panose="02020603050405020304" charset="0"/>
              </a:rPr>
              <a:t> Q&amp;A</a:t>
            </a:r>
            <a:endParaRPr sz="1000" dirty="0">
              <a:latin typeface="Times New Roman" panose="02020603050405020304" charset="0"/>
              <a:ea typeface="Arial" panose="020B0604020202020204"/>
              <a:cs typeface="Times New Roman" panose="02020603050405020304" charset="0"/>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80000"/>
              </a:lnSpc>
            </a:pPr>
            <a:endParaRPr sz="100" dirty="0">
              <a:latin typeface="Arial" panose="020B0604020202020204"/>
              <a:ea typeface="Arial" panose="020B0604020202020204"/>
              <a:cs typeface="Arial" panose="020B0604020202020204"/>
            </a:endParaRPr>
          </a:p>
          <a:p>
            <a:pPr algn="r" rtl="0" eaLnBrk="0">
              <a:lnSpc>
                <a:spcPct val="95000"/>
              </a:lnSpc>
              <a:spcBef>
                <a:spcPts val="0"/>
              </a:spcBef>
            </a:pPr>
            <a:endParaRPr sz="700" kern="0" spc="50" dirty="0">
              <a:solidFill>
                <a:srgbClr val="FFFFFF">
                  <a:alpha val="100000"/>
                </a:srgbClr>
              </a:solidFill>
              <a:latin typeface="Arial" panose="020B0604020202020204"/>
              <a:ea typeface="Arial" panose="020B0604020202020204"/>
              <a:cs typeface="Arial" panose="020B0604020202020204"/>
            </a:endParaRPr>
          </a:p>
          <a:p>
            <a:pPr algn="r" rtl="0" eaLnBrk="0">
              <a:lnSpc>
                <a:spcPct val="95000"/>
              </a:lnSpc>
              <a:spcBef>
                <a:spcPts val="0"/>
              </a:spcBef>
            </a:pPr>
            <a:endParaRPr sz="700" kern="0" spc="50" dirty="0">
              <a:solidFill>
                <a:srgbClr val="FFFFFF">
                  <a:alpha val="100000"/>
                </a:srgbClr>
              </a:solidFill>
              <a:latin typeface="Arial" panose="020B0604020202020204"/>
              <a:ea typeface="Arial" panose="020B0604020202020204"/>
              <a:cs typeface="Arial" panose="020B0604020202020204"/>
              <a:sym typeface="+mn-ea"/>
            </a:endParaRPr>
          </a:p>
          <a:p>
            <a:pPr algn="r" rtl="0" eaLnBrk="0">
              <a:lnSpc>
                <a:spcPct val="95000"/>
              </a:lnSpc>
              <a:spcBef>
                <a:spcPts val="0"/>
              </a:spcBef>
            </a:pPr>
            <a:r>
              <a:rPr sz="700" kern="0" spc="50" dirty="0">
                <a:solidFill>
                  <a:srgbClr val="FFFFFF">
                    <a:alpha val="100000"/>
                  </a:srgbClr>
                </a:solidFill>
                <a:latin typeface="Arial" panose="020B0604020202020204"/>
                <a:ea typeface="Arial" panose="020B0604020202020204"/>
                <a:cs typeface="Arial" panose="020B0604020202020204"/>
                <a:sym typeface="+mn-ea"/>
              </a:rPr>
              <a:t>®</a:t>
            </a:r>
            <a:r>
              <a:rPr sz="700" kern="0" spc="120" dirty="0">
                <a:solidFill>
                  <a:srgbClr val="FFFFFF">
                    <a:alpha val="100000"/>
                  </a:srgbClr>
                </a:solidFill>
                <a:latin typeface="Arial" panose="020B0604020202020204"/>
                <a:ea typeface="Arial" panose="020B0604020202020204"/>
                <a:cs typeface="Arial" panose="020B0604020202020204"/>
                <a:sym typeface="+mn-ea"/>
              </a:rPr>
              <a:t> </a:t>
            </a:r>
            <a:r>
              <a:rPr sz="700" kern="0" spc="50" dirty="0">
                <a:solidFill>
                  <a:srgbClr val="FFFFFF">
                    <a:alpha val="100000"/>
                  </a:srgbClr>
                </a:solidFill>
                <a:latin typeface="Arial" panose="020B0604020202020204"/>
                <a:ea typeface="Arial" panose="020B0604020202020204"/>
                <a:cs typeface="Arial" panose="020B0604020202020204"/>
                <a:sym typeface="+mn-ea"/>
              </a:rPr>
              <a:t>2024 –</a:t>
            </a:r>
            <a:r>
              <a:rPr sz="700" kern="0" spc="120" dirty="0">
                <a:solidFill>
                  <a:srgbClr val="FFFFFF">
                    <a:alpha val="100000"/>
                  </a:srgbClr>
                </a:solidFill>
                <a:latin typeface="Arial" panose="020B0604020202020204"/>
                <a:ea typeface="Arial" panose="020B0604020202020204"/>
                <a:cs typeface="Arial" panose="020B0604020202020204"/>
                <a:sym typeface="+mn-ea"/>
              </a:rPr>
              <a:t> </a:t>
            </a:r>
            <a:r>
              <a:rPr sz="700" kern="0" spc="50" dirty="0">
                <a:solidFill>
                  <a:srgbClr val="FFFFFF">
                    <a:alpha val="100000"/>
                  </a:srgbClr>
                </a:solidFill>
                <a:latin typeface="Arial" panose="020B0604020202020204"/>
                <a:ea typeface="Arial" panose="020B0604020202020204"/>
                <a:cs typeface="Arial" panose="020B0604020202020204"/>
                <a:sym typeface="+mn-ea"/>
              </a:rPr>
              <a:t>2025</a:t>
            </a:r>
            <a:r>
              <a:rPr sz="700" kern="0" spc="130" dirty="0">
                <a:solidFill>
                  <a:srgbClr val="FFFFFF">
                    <a:alpha val="100000"/>
                  </a:srgbClr>
                </a:solidFill>
                <a:latin typeface="Arial" panose="020B0604020202020204"/>
                <a:ea typeface="Arial" panose="020B0604020202020204"/>
                <a:cs typeface="Arial" panose="020B0604020202020204"/>
                <a:sym typeface="+mn-ea"/>
              </a:rPr>
              <a:t> </a:t>
            </a:r>
            <a:r>
              <a:rPr lang="en-US" sz="700" kern="0" spc="50" dirty="0">
                <a:solidFill>
                  <a:srgbClr val="FFFFFF">
                    <a:alpha val="100000"/>
                  </a:srgbClr>
                </a:solidFill>
                <a:latin typeface="Arial" panose="020B0604020202020204"/>
                <a:ea typeface="Arial" panose="020B0604020202020204"/>
                <a:cs typeface="Arial" panose="020B0604020202020204"/>
                <a:sym typeface="+mn-ea"/>
              </a:rPr>
              <a:t>Group 6</a:t>
            </a:r>
            <a:r>
              <a:rPr sz="700" kern="0" spc="60" dirty="0">
                <a:solidFill>
                  <a:srgbClr val="FFFFFF">
                    <a:alpha val="100000"/>
                  </a:srgbClr>
                </a:solidFill>
                <a:latin typeface="Arial" panose="020B0604020202020204"/>
                <a:ea typeface="Arial" panose="020B0604020202020204"/>
                <a:cs typeface="Arial" panose="020B0604020202020204"/>
                <a:sym typeface="+mn-ea"/>
              </a:rPr>
              <a:t>  </a:t>
            </a:r>
            <a:r>
              <a:rPr sz="700" kern="0" spc="50" dirty="0">
                <a:solidFill>
                  <a:srgbClr val="FFFFFF">
                    <a:alpha val="100000"/>
                  </a:srgbClr>
                </a:solidFill>
                <a:latin typeface="Arial" panose="020B0604020202020204"/>
                <a:ea typeface="Arial" panose="020B0604020202020204"/>
                <a:cs typeface="Arial" panose="020B0604020202020204"/>
                <a:sym typeface="+mn-ea"/>
              </a:rPr>
              <a:t>|</a:t>
            </a:r>
            <a:r>
              <a:rPr sz="700" kern="0" spc="80" dirty="0">
                <a:solidFill>
                  <a:srgbClr val="FFFFFF">
                    <a:alpha val="100000"/>
                  </a:srgbClr>
                </a:solidFill>
                <a:latin typeface="Arial" panose="020B0604020202020204"/>
                <a:ea typeface="Arial" panose="020B0604020202020204"/>
                <a:cs typeface="Arial" panose="020B0604020202020204"/>
                <a:sym typeface="+mn-ea"/>
              </a:rPr>
              <a:t>  </a:t>
            </a:r>
            <a:r>
              <a:rPr lang="en-US" sz="700" kern="0" spc="40" dirty="0">
                <a:solidFill>
                  <a:srgbClr val="FFFFFF">
                    <a:alpha val="100000"/>
                  </a:srgbClr>
                </a:solidFill>
                <a:latin typeface="Arial" panose="020B0604020202020204"/>
                <a:ea typeface="Arial" panose="020B0604020202020204"/>
                <a:cs typeface="Arial" panose="020B0604020202020204"/>
                <a:sym typeface="+mn-ea"/>
              </a:rPr>
              <a:t>Course Project</a:t>
            </a:r>
            <a:endParaRPr lang="en-US" sz="700" kern="0" spc="40" dirty="0">
              <a:solidFill>
                <a:srgbClr val="FFFFFF">
                  <a:alpha val="100000"/>
                </a:srgbClr>
              </a:solidFill>
              <a:latin typeface="Arial" panose="020B0604020202020204"/>
              <a:ea typeface="Arial" panose="020B0604020202020204"/>
              <a:cs typeface="Arial" panose="020B0604020202020204"/>
            </a:endParaRPr>
          </a:p>
          <a:p>
            <a:pPr algn="r" rtl="0" eaLnBrk="0">
              <a:lnSpc>
                <a:spcPct val="95000"/>
              </a:lnSpc>
              <a:spcBef>
                <a:spcPts val="0"/>
              </a:spcBef>
            </a:pPr>
            <a:endParaRPr sz="700" dirty="0">
              <a:latin typeface="Arial" panose="020B0604020202020204"/>
              <a:ea typeface="Arial" panose="020B0604020202020204"/>
              <a:cs typeface="Arial" panose="020B0604020202020204"/>
            </a:endParaRPr>
          </a:p>
        </p:txBody>
      </p:sp>
      <p:pic>
        <p:nvPicPr>
          <p:cNvPr id="260" name="picture 260"/>
          <p:cNvPicPr>
            <a:picLocks noChangeAspect="1"/>
          </p:cNvPicPr>
          <p:nvPr/>
        </p:nvPicPr>
        <p:blipFill>
          <a:blip r:embed="rId1"/>
          <a:stretch>
            <a:fillRect/>
          </a:stretch>
        </p:blipFill>
        <p:spPr>
          <a:xfrm rot="21600000">
            <a:off x="360019" y="1"/>
            <a:ext cx="504052" cy="599997"/>
          </a:xfrm>
          <a:prstGeom prst="rect">
            <a:avLst/>
          </a:prstGeom>
        </p:spPr>
      </p:pic>
      <p:sp>
        <p:nvSpPr>
          <p:cNvPr id="262" name="textbox 262"/>
          <p:cNvSpPr/>
          <p:nvPr/>
        </p:nvSpPr>
        <p:spPr>
          <a:xfrm>
            <a:off x="352658" y="3763383"/>
            <a:ext cx="288925" cy="12700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5000"/>
              </a:lnSpc>
            </a:pPr>
            <a:r>
              <a:rPr lang="en-US" sz="700" kern="0" spc="60" dirty="0">
                <a:solidFill>
                  <a:srgbClr val="FFFFFF">
                    <a:alpha val="100000"/>
                  </a:srgbClr>
                </a:solidFill>
                <a:latin typeface="Arial" panose="020B0604020202020204"/>
                <a:ea typeface="Arial" panose="020B0604020202020204"/>
                <a:cs typeface="Arial" panose="020B0604020202020204"/>
              </a:rPr>
              <a:t>3</a:t>
            </a:r>
            <a:r>
              <a:rPr sz="700" kern="0" spc="60" dirty="0">
                <a:solidFill>
                  <a:srgbClr val="FFFFFF">
                    <a:alpha val="100000"/>
                  </a:srgbClr>
                </a:solidFill>
                <a:latin typeface="Arial" panose="020B0604020202020204"/>
                <a:ea typeface="Arial" panose="020B0604020202020204"/>
                <a:cs typeface="Arial" panose="020B0604020202020204"/>
              </a:rPr>
              <a:t>2</a:t>
            </a:r>
            <a:endParaRPr sz="700" dirty="0">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11979</Words>
  <Application>WPS 演示</Application>
  <PresentationFormat/>
  <Paragraphs>508</Paragraphs>
  <Slides>32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32</vt:i4>
      </vt:variant>
    </vt:vector>
  </HeadingPairs>
  <TitlesOfParts>
    <vt:vector size="43" baseType="lpstr">
      <vt:lpstr>Arial</vt:lpstr>
      <vt:lpstr>宋体</vt:lpstr>
      <vt:lpstr>Wingdings</vt:lpstr>
      <vt:lpstr>Times New Roman</vt:lpstr>
      <vt:lpstr>Arial</vt:lpstr>
      <vt:lpstr>Malgun Gothic</vt:lpstr>
      <vt:lpstr>Palatino Linotype</vt:lpstr>
      <vt:lpstr>微软雅黑</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 DDA3600: Factor Investing1cm</dc:title>
  <dc:creator>Chuan Shi</dc:creator>
  <cp:lastModifiedBy>耳東言若</cp:lastModifiedBy>
  <cp:revision>8</cp:revision>
  <dcterms:created xsi:type="dcterms:W3CDTF">2025-12-04T16:10:00Z</dcterms:created>
  <dcterms:modified xsi:type="dcterms:W3CDTF">2025-12-07T03:09:55Z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wqlLaW5nc29mdCBQREYgdG8gV1BTIDExNQ</vt:lpwstr>
  </property>
  <property fmtid="{D5CDD505-2E9C-101B-9397-08002B2CF9AE}" pid="3" name="Created">
    <vt:filetime>2025-12-05T15:31:54Z</vt:filetime>
  </property>
  <property fmtid="{D5CDD505-2E9C-101B-9397-08002B2CF9AE}" pid="4" name="KSOProductBuildVer">
    <vt:lpwstr>2052-12.1.0.24034</vt:lpwstr>
  </property>
  <property fmtid="{D5CDD505-2E9C-101B-9397-08002B2CF9AE}" pid="5" name="ICV">
    <vt:lpwstr>C0ABA5118B86468D96F55C7D8E96B3DF_12</vt:lpwstr>
  </property>
</Properties>
</file>